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ink/ink1.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6" r:id="rId11"/>
    <p:sldId id="267" r:id="rId12"/>
    <p:sldId id="268" r:id="rId13"/>
    <p:sldId id="269" r:id="rId14"/>
    <p:sldId id="270" r:id="rId15"/>
    <p:sldId id="272" r:id="rId16"/>
    <p:sldId id="273" r:id="rId17"/>
    <p:sldId id="271" r:id="rId1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280" autoAdjust="0"/>
    <p:restoredTop sz="94660"/>
  </p:normalViewPr>
  <p:slideViewPr>
    <p:cSldViewPr>
      <p:cViewPr>
        <p:scale>
          <a:sx n="84" d="100"/>
          <a:sy n="84" d="100"/>
        </p:scale>
        <p:origin x="138" y="306"/>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ink/ink1.xml><?xml version="1.0" encoding="utf-8"?>
<inkml:ink xmlns:inkml="http://www.w3.org/2003/InkML">
  <inkml:definitions>
    <inkml:context xml:id="ctx0">
      <inkml:inkSource xml:id="inkSrc0">
        <inkml:traceFormat>
          <inkml:channel name="X" type="integer" max="1024" units="cm"/>
          <inkml:channel name="Y" type="integer" max="768" units="cm"/>
        </inkml:traceFormat>
        <inkml:channelProperties>
          <inkml:channelProperty channel="X" name="resolution" value="28.36565" units="1/cm"/>
          <inkml:channelProperty channel="Y" name="resolution" value="28.33948" units="1/cm"/>
        </inkml:channelProperties>
      </inkml:inkSource>
      <inkml:timestamp xml:id="ts0" timeString="2016-03-04T02:07:36.657"/>
    </inkml:context>
    <inkml:brush xml:id="br0">
      <inkml:brushProperty name="width" value="0.05292" units="cm"/>
      <inkml:brushProperty name="height" value="0.05292" units="cm"/>
      <inkml:brushProperty name="color" value="#FF0000"/>
    </inkml:brush>
  </inkml:definitions>
  <inkml:trace contextRef="#ctx0" brushRef="#br0">1662 7268,'0'25,"0"-25,0 49,0-24,0 49,0-24,0 0,-25-1,25 26,0-51,-25-24,25 50,0-50,0 25,0 0,0-1,0-24,0 25,0-25,0 25,-25 0,25-25,0 25,0-25,0 24,0 1,0-25,0 25,0-25,0 0,-24-25,24 0,-25 25,25-24,0 24,0-25,-25 0,25 25,0-25,0 25,-25-25,0 25,25-24,-24-1,24 25,-25 0,25-25,-25 25,0 0,25-25,-25 25,25 0,-24 0,-1-25,0 25,0 0,-24 0,-1 0,25 0,25 0,-25 0,1 0,24 25,-25-25,25 0,-25 0,25 0,-25 25,0-25,25 25,-24-25,24 25,0-1,0-24,-25 25,25-25,0 25,0 0,0-25,0 25,0-25,0 24,0-24,0 25,0 0,0-25,0 25,0-25,0 0,0 25,0 0,25-25,-25 0,0 24,24-24,-24 25,25-25,-25 0,25 0,-25 25,0 0,25-25,-25 25,25-25,-25 0,24 0,-24 0,25 0,-25 0,25 0,0 0,-25 0,25 0,-25 0,24 0,-24 0,25 0,0 0,-25 0,25-25,-25 25,25-25,-1 25,-24 0,0-25,25 25,-25 0,25 0,-25-25,0 25,25 0,-25-24,25-1,-25 25,0 0,0-25,24 25,-24-25,0 25,0-25,0 25,25 0,-25-25,0 25,0 0</inkml:trace>
  <inkml:trace contextRef="#ctx0" brushRef="#br0" timeOffset="1411.0806">1935 7565,'25'0,"-25"0,49 0,-24 0,0 25,0 0,-1-25,-24 0,25 25,-25-25,25 0,0 0,-25 25,0-1,0-24,25 25,-25-25,0 25,0 0,0-25,0 0,0 25,0-25,0 24,0-24,0 25,0 0,24-25,-24 25,0-25,0 25,0-25,0 24,0 1,0-25,0 25,0-25,0 25,0 0,0-25,0 25,0-25,0 24,0-24,0 25,0-25,-24 0,24 0</inkml:trace>
  <inkml:trace contextRef="#ctx0" brushRef="#br0" timeOffset="2800.1601">2208 7838,'-25'0,"0"0,25 0,-25 0,25 0,-25 0,1 0,24 0,-25 0,25 0,-25 0,25 0,0 0,-25 0,0 25,25-25,-24 0,24 25,0-25,-25 25,0-25,25 24,0-24,-25 25,25-25,0 25,0-25,0 25,0 0,-25-25,25 25,0-25,0 24,0-24,0 25,0 0,0-25,0 25,0-25,0 25,0-1,0-24,0 0,25 0,-25 0,0 0,25 0,0 0,-25 0,25 0,-25 0,24 0,1 0,-25 0,25 0,-25 0,25 0,-25 0,25 0,-1 0,-24 0,25 0,-25 0,25 0,0 0,-25 0,25 0,-25-24,0 24,24-25</inkml:trace>
  <inkml:trace contextRef="#ctx0" brushRef="#br0" timeOffset="4047.2315">2456 7342,'24'0,"-24"25,0 0,0 0,0 24,0-24,25 25,-25-1,0-24,0 0,25 24,-25-49,0 25,0 0,0 0,25-25,-25 25,0-25,25 24,-25 1,24-25,1 25,-25-25,25 25,-25-25,25 25,-25-1,25-24,0 25,-25-25,24 0,-24 0,25 0,0 0,-25 0,25 25,-25-25,25 0,-25 0,24 0,1 0,-25-25,0 25,25 0,-25-25,0 25,0-24</inkml:trace>
  <inkml:trace contextRef="#ctx0" brushRef="#br0" timeOffset="6041.3456">2381 7665,'0'0,"0"0,0 0,25 0,0 0,-25 0,25 0,-25 0,24 0,-24 0,25 0,-25 0,25 0,-25 0,25 0,-25 0,25-25,-1 25,-24 0,25 0,-25-25,25 25,-25 0,25 0,0 0,-25 0</inkml:trace>
  <inkml:trace contextRef="#ctx0" brushRef="#br0" timeOffset="7398.4232">3101 7516,'0'0,"0"0,0 0,24 0,1-25,-25 25,25 0,25 0,-26 0,26 0,-25 0,49 0,-49 0,0 0,-25 0,25 0,-25 0,24 0,-24 25,0-25,0 0,25 25,-25-1,25-24,-25 25,0-25,25 25,-25 0,0-25,0 25,25-25,-25 24,0-24,0 25,0 0,0-25,0 25,0-25,0 25,0-1,0-24,0 25,0-25,0 25,0-25,0 25,0-25,0 0,-25 0</inkml:trace>
  <inkml:trace contextRef="#ctx0" brushRef="#br0" timeOffset="8699.4974">3522 7665,'-25'0,"25"0,-24 0,24 0,-25 0,0 0,25 0,-25 0,25 0,-25 0,25 24,0-24,-24 0,-1 25,25 0,0-25,-25 0,25 25,0-25,0 25,0-1,0-24,0 25,0-25,0 25,0-25,0 25,0 0,0-25,0 24,0-24,0 0,0 25,0 0,25-25,0 25,-25-25,24 25,-24-25,25 0,-25 0,25 0,0 0,-25 0,25 0,-25 0,24 0,-24 0,25 0,0 0,-25 0,0-25,25 25,-25-25,0 0,0 25,25 0,-25-25</inkml:trace>
  <inkml:trace contextRef="#ctx0" brushRef="#br0" timeOffset="18160.0387">5283 7268,'0'0,"0"25,25 24,-25 1,25-1,0 26,-25-26,0 1,0 0,0-26,0 51,25-26,-25 1,24 0,1-1,-25-24,25 0,0 0,-25 0,0-25,25 0,-25 24,0-24,24 25,1 0,0-25,-25 0,25 0,-25 0,25 0,-1 0,-24 0,25 0,-25-25,25 25,-25-25,25 25,0-24,-25-1,24 25,-24-25,25 25</inkml:trace>
  <inkml:trace contextRef="#ctx0" brushRef="#br0" timeOffset="19508.1155">5110 7739,'0'0,"0"0,49 0,1-25,0 25,-1-25,26 1,-26 24,-24-25,25 25,-50 0,24-25,-24 25,25 0,-25 0,25 0,-25-25,25 25,-25 0,0-25,25 1,-25 24,24-25</inkml:trace>
  <inkml:trace contextRef="#ctx0" brushRef="#br0" timeOffset="21440.2263">6052 7640,'0'0,"25"-25,-25 25,25-25,-25 0,25 25,-25-24,25 24,-1-25,-24 0,0 25,0-25,0 25,0-25,0 25,0-24,0 24,0-25,0 25,-24 0,24 0,-25 0,25 0,-25 0,25 0,-25 0,0 0,25 0,-24 25,24-25,-25 0,0 24,25-24,-25 0,25 25,0-25,-25 0,25 25,0-25,-24 25,-1-25,25 25,0-25,-25 24,25 1,0-25,0 25,0-25,0 25,0-25,0 25,0-1,-25-24,25 25,0-25,0 25,0 0,0-25,0 25,25-25,-25 24,0-24,25 0,0 25,-25-25,24 25,-24-25,25 0,-25 0,25 0,0 0,-25 0,25 0,-25 0,24 0,1 0,-25 0,25 0,-25 0,25 0,-25 0,25 0,-1 0,-24 0,25 0,-25 0,0-25</inkml:trace>
  <inkml:trace contextRef="#ctx0" brushRef="#br0" timeOffset="29073.6628">6598 7441,'-25'0,"25"0,-25 0,25 0,-24 0,24 0,-25 0,0 25,25 0,-25-25,25 0,0 25,-25-25,1 0,24 25,0-1,0-24,0 25,0-25,0 25,0-25,0 25,0 0,0-25,0 0,0 24,0-24,0 25,24-25,-24 25,0-25,25 0,-25 25,0-25,25 25,-25-25,25 24,-25 1,25-25,-25 25,0-25,0 25,0-25,0 25,0-25,0 24,0-24,0 25,0-25,0 25,0 0,0-25,0 25,0-25,0 25,0-1,0-24,0 25,0-25,0 25,-25-25,0 25,25 0,0-25,0 0,-25 0,25 24</inkml:trace>
  <inkml:trace contextRef="#ctx0" brushRef="#br0" timeOffset="30609.7508">6821 7466,'0'0,"0"0,0 25,0 25,0-26,0 26,0-25,0 0,0 24,0-24,0 0,-25 0,25-1,0 1,0 25,0-25,0 24,0 1,0-50,0 50,-24-1,24-49,0 25,0-25,0 25,0 0,0-25,0 0,0 0,24 0,-24-25,25 25,-25 0,25 0,0 0,-25-25,25 25,-25 0,25 0,-1-25,-24 25,25-25,-25 25,25 0,-25-24,25 24,0 0,-25-25,0 25</inkml:trace>
  <inkml:trace contextRef="#ctx0" brushRef="#br0" timeOffset="31997.8299">6672 7813,'0'0,"0"-24,25 24,0 0,-25 0,25-25,-25 0,25 25,-1 0,-24 0,25-25,-25 25,25 0,-25 0,0 0,25-25,0 25,-25 0,25 0,-25-24,24 24,-24-25,25 25,-25 0,25 0,-25 0,25-25,-25 25</inkml:trace>
  <inkml:trace contextRef="#ctx0" brushRef="#br0" timeOffset="33139.8952">7293 7590,'0'0,"0"25,0-25,0 25,0 0,0-25,0 24,0-24,0 25,0-25,0 25,0 0,0-25,-25 25,25-25,0 24,0 1,0-25,0 25,-25-25,25 25,0-25,-25 25,25-1,0-24,0 25,0-25,0 25,0-25,0 25,0 0,0-25</inkml:trace>
  <inkml:trace contextRef="#ctx0" brushRef="#br0" timeOffset="33925.9405">7218 7417</inkml:trace>
  <inkml:trace contextRef="#ctx0" brushRef="#br0" timeOffset="36397.0815">7590 7640,'0'0,"0"25,0-25,0 24,0-24,0 25,0 0,0 0,0-25,0 25,0-1,0-24,0 25,0-25,0 25,-25-25,25 25,0 0,0-25,0 24,0-24,-24 25,24 0,0-25,0 25,0-25,0 25,0-25,0 0,0-25,0 25,0-25,0 0,0 0,0 25,0-24,0-1,0 25,0-25,0 25,0-25,24 0,-24 25,0-24,0 24,0-25,25 25,-25 0,0-25,25 25,-25-25,0 25,25 0,-25 0,25 0,-1 0,-24 0,25 0,-25 0,25 0,-25 0,0 0,25 25,0-25,-25 25,0-25,24 0,-24 25,0-25,25 24,0 1,-25-25,25 25,-25-25,0 25,25 0,-25-25,0 24,0-24,0 25,0-25,0 0,0 25,0 0,0-25,0 25,0-25,0 25,0-25,0 24,0-24,0 25,-25-25,25 25,0-25,0 25,-25 0,25-25,-25 24,25-24,0 25,0-25,0 25,-25-25,25 0</inkml:trace>
  <inkml:trace contextRef="#ctx0" brushRef="#br0" timeOffset="39010.231">8483 8062,'0'-25,"0"25,0 0,-25 0,1 0,24 0,-25 0,25 0,-25 0,25 0,-25 0,25 0,-25 0,25 25,-24-25,24 24,-25-24,0 25,25 0,0-25,-25 25,25-25,0 25,0-1,0-24,-25 25,25-25,0 25,0-25,0 25,0 0,0-25,0 24,0-24,0 25,0 0,0-25,0 25,0-25,0 0,0 0,0 0,25 0,-25 0,25 0,0 0,-25-25,25 0,-25 25,0-25,24 25,1-24,-25-1,0 25,25-25,-25 25,0-25,0 25,25-25,-25 1,0 24,25-25,-25 25,0-25,24 0,-24 25,0-25,0 25,0-24,25 24,-25 0,0 0,0 0,0 49,0-24,0-25,0 50,0-50,0 24,0-24,0 25,-25 0,25-25,0 25,0-25,-24 25,24-1,0-24,0 25,0-25,0 25,0-25,-25 25,25 0,0-25,0 24,-25-24,25 25,-25 0,25-25,0 25,0-25,0 25,0-25,-25 0,25 24,0 1,-24-25,24 25,0-25,-25 25,25-25,-25 25,25-1,0-24,-25 0,25 25,-25-25,1 0,24 0,-25 25,25 0,-25-25,25 0,-25 0,0 0,1 25,24-25,-25 0,0 0,25 24,-25-24,0 25,0-25,25 0,-24 0,24 0,-50 25,50-25,-25 0,0 25,1-25,24 0,-25 0,25 0,-25 0,0 0,25 0,-25 0,25 0,-24 0,-1 0,25 0,-25 0,25 0,-25 0,25 0,0 0,-25 0,1 0,24 0,0 0,0 0</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A97479AB-D95E-4701-8F38-1E6910BE2F36}" type="datetimeFigureOut">
              <a:rPr lang="en-US" smtClean="0"/>
              <a:t>2020-03-09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490A6FD-8640-491E-A97B-DBEE975B4E72}" type="slidenum">
              <a:rPr lang="en-US" smtClean="0"/>
              <a:t>‹#›</a:t>
            </a:fld>
            <a:endParaRPr lang="en-US"/>
          </a:p>
        </p:txBody>
      </p:sp>
    </p:spTree>
    <p:extLst>
      <p:ext uri="{BB962C8B-B14F-4D97-AF65-F5344CB8AC3E}">
        <p14:creationId xmlns:p14="http://schemas.microsoft.com/office/powerpoint/2010/main" val="11237644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97479AB-D95E-4701-8F38-1E6910BE2F36}" type="datetimeFigureOut">
              <a:rPr lang="en-US" smtClean="0"/>
              <a:t>2020-03-09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490A6FD-8640-491E-A97B-DBEE975B4E72}" type="slidenum">
              <a:rPr lang="en-US" smtClean="0"/>
              <a:t>‹#›</a:t>
            </a:fld>
            <a:endParaRPr lang="en-US"/>
          </a:p>
        </p:txBody>
      </p:sp>
    </p:spTree>
    <p:extLst>
      <p:ext uri="{BB962C8B-B14F-4D97-AF65-F5344CB8AC3E}">
        <p14:creationId xmlns:p14="http://schemas.microsoft.com/office/powerpoint/2010/main" val="22423975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A97479AB-D95E-4701-8F38-1E6910BE2F36}" type="datetimeFigureOut">
              <a:rPr lang="en-US" smtClean="0"/>
              <a:t>2020-03-09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490A6FD-8640-491E-A97B-DBEE975B4E72}" type="slidenum">
              <a:rPr lang="en-US" smtClean="0"/>
              <a:t>‹#›</a:t>
            </a:fld>
            <a:endParaRPr lang="en-US"/>
          </a:p>
        </p:txBody>
      </p:sp>
    </p:spTree>
    <p:extLst>
      <p:ext uri="{BB962C8B-B14F-4D97-AF65-F5344CB8AC3E}">
        <p14:creationId xmlns:p14="http://schemas.microsoft.com/office/powerpoint/2010/main" val="40485187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A97479AB-D95E-4701-8F38-1E6910BE2F36}" type="datetimeFigureOut">
              <a:rPr lang="en-US" smtClean="0"/>
              <a:t>2020-03-09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490A6FD-8640-491E-A97B-DBEE975B4E72}" type="slidenum">
              <a:rPr lang="en-US" smtClean="0"/>
              <a:t>‹#›</a:t>
            </a:fld>
            <a:endParaRPr lang="en-US"/>
          </a:p>
        </p:txBody>
      </p:sp>
    </p:spTree>
    <p:extLst>
      <p:ext uri="{BB962C8B-B14F-4D97-AF65-F5344CB8AC3E}">
        <p14:creationId xmlns:p14="http://schemas.microsoft.com/office/powerpoint/2010/main" val="20307126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A97479AB-D95E-4701-8F38-1E6910BE2F36}" type="datetimeFigureOut">
              <a:rPr lang="en-US" smtClean="0"/>
              <a:t>2020-03-09</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490A6FD-8640-491E-A97B-DBEE975B4E72}" type="slidenum">
              <a:rPr lang="en-US" smtClean="0"/>
              <a:t>‹#›</a:t>
            </a:fld>
            <a:endParaRPr lang="en-US"/>
          </a:p>
        </p:txBody>
      </p:sp>
    </p:spTree>
    <p:extLst>
      <p:ext uri="{BB962C8B-B14F-4D97-AF65-F5344CB8AC3E}">
        <p14:creationId xmlns:p14="http://schemas.microsoft.com/office/powerpoint/2010/main" val="13259438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A97479AB-D95E-4701-8F38-1E6910BE2F36}" type="datetimeFigureOut">
              <a:rPr lang="en-US" smtClean="0"/>
              <a:t>2020-03-09</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490A6FD-8640-491E-A97B-DBEE975B4E72}" type="slidenum">
              <a:rPr lang="en-US" smtClean="0"/>
              <a:t>‹#›</a:t>
            </a:fld>
            <a:endParaRPr lang="en-US"/>
          </a:p>
        </p:txBody>
      </p:sp>
    </p:spTree>
    <p:extLst>
      <p:ext uri="{BB962C8B-B14F-4D97-AF65-F5344CB8AC3E}">
        <p14:creationId xmlns:p14="http://schemas.microsoft.com/office/powerpoint/2010/main" val="12302950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97479AB-D95E-4701-8F38-1E6910BE2F36}" type="datetimeFigureOut">
              <a:rPr lang="en-US" smtClean="0"/>
              <a:t>2020-03-09</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490A6FD-8640-491E-A97B-DBEE975B4E72}" type="slidenum">
              <a:rPr lang="en-US" smtClean="0"/>
              <a:t>‹#›</a:t>
            </a:fld>
            <a:endParaRPr lang="en-US"/>
          </a:p>
        </p:txBody>
      </p:sp>
    </p:spTree>
    <p:extLst>
      <p:ext uri="{BB962C8B-B14F-4D97-AF65-F5344CB8AC3E}">
        <p14:creationId xmlns:p14="http://schemas.microsoft.com/office/powerpoint/2010/main" val="33709701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A97479AB-D95E-4701-8F38-1E6910BE2F36}" type="datetimeFigureOut">
              <a:rPr lang="en-US" smtClean="0"/>
              <a:t>2020-03-09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490A6FD-8640-491E-A97B-DBEE975B4E72}" type="slidenum">
              <a:rPr lang="en-US" smtClean="0"/>
              <a:t>‹#›</a:t>
            </a:fld>
            <a:endParaRPr lang="en-US"/>
          </a:p>
        </p:txBody>
      </p:sp>
    </p:spTree>
    <p:extLst>
      <p:ext uri="{BB962C8B-B14F-4D97-AF65-F5344CB8AC3E}">
        <p14:creationId xmlns:p14="http://schemas.microsoft.com/office/powerpoint/2010/main" val="7984914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A97479AB-D95E-4701-8F38-1E6910BE2F36}" type="datetimeFigureOut">
              <a:rPr lang="en-US" smtClean="0"/>
              <a:t>2020-03-09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490A6FD-8640-491E-A97B-DBEE975B4E72}" type="slidenum">
              <a:rPr lang="en-US" smtClean="0"/>
              <a:t>‹#›</a:t>
            </a:fld>
            <a:endParaRPr lang="en-US"/>
          </a:p>
        </p:txBody>
      </p:sp>
    </p:spTree>
    <p:extLst>
      <p:ext uri="{BB962C8B-B14F-4D97-AF65-F5344CB8AC3E}">
        <p14:creationId xmlns:p14="http://schemas.microsoft.com/office/powerpoint/2010/main" val="28596489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97479AB-D95E-4701-8F38-1E6910BE2F36}" type="datetimeFigureOut">
              <a:rPr lang="en-US" smtClean="0"/>
              <a:t>2020-03-09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490A6FD-8640-491E-A97B-DBEE975B4E72}" type="slidenum">
              <a:rPr lang="en-US" smtClean="0"/>
              <a:t>‹#›</a:t>
            </a:fld>
            <a:endParaRPr lang="en-US"/>
          </a:p>
        </p:txBody>
      </p:sp>
    </p:spTree>
    <p:extLst>
      <p:ext uri="{BB962C8B-B14F-4D97-AF65-F5344CB8AC3E}">
        <p14:creationId xmlns:p14="http://schemas.microsoft.com/office/powerpoint/2010/main" val="2196813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97479AB-D95E-4701-8F38-1E6910BE2F36}" type="datetimeFigureOut">
              <a:rPr lang="en-US" smtClean="0"/>
              <a:t>2020-03-09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490A6FD-8640-491E-A97B-DBEE975B4E72}" type="slidenum">
              <a:rPr lang="en-US" smtClean="0"/>
              <a:t>‹#›</a:t>
            </a:fld>
            <a:endParaRPr lang="en-US"/>
          </a:p>
        </p:txBody>
      </p:sp>
    </p:spTree>
    <p:extLst>
      <p:ext uri="{BB962C8B-B14F-4D97-AF65-F5344CB8AC3E}">
        <p14:creationId xmlns:p14="http://schemas.microsoft.com/office/powerpoint/2010/main" val="31410041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6">
            <a:lumMod val="40000"/>
            <a:lumOff val="60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97479AB-D95E-4701-8F38-1E6910BE2F36}" type="datetimeFigureOut">
              <a:rPr lang="en-US" smtClean="0"/>
              <a:t>2020-03-09</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490A6FD-8640-491E-A97B-DBEE975B4E72}" type="slidenum">
              <a:rPr lang="en-US" smtClean="0"/>
              <a:t>‹#›</a:t>
            </a:fld>
            <a:endParaRPr lang="en-US"/>
          </a:p>
        </p:txBody>
      </p:sp>
    </p:spTree>
    <p:extLst>
      <p:ext uri="{BB962C8B-B14F-4D97-AF65-F5344CB8AC3E}">
        <p14:creationId xmlns:p14="http://schemas.microsoft.com/office/powerpoint/2010/main" val="52558497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customXml" Target="../ink/ink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smtClean="0"/>
              <a:t>Pertemuan ke-2</a:t>
            </a:r>
            <a:endParaRPr lang="en-US"/>
          </a:p>
        </p:txBody>
      </p:sp>
      <p:sp>
        <p:nvSpPr>
          <p:cNvPr id="3" name="Subtitle 2"/>
          <p:cNvSpPr>
            <a:spLocks noGrp="1"/>
          </p:cNvSpPr>
          <p:nvPr>
            <p:ph type="subTitle" idx="1"/>
          </p:nvPr>
        </p:nvSpPr>
        <p:spPr/>
        <p:txBody>
          <a:bodyPr>
            <a:normAutofit/>
          </a:bodyPr>
          <a:lstStyle/>
          <a:p>
            <a:r>
              <a:rPr lang="en-US" sz="4800" smtClean="0"/>
              <a:t>Mesin Pembelajaran</a:t>
            </a:r>
            <a:endParaRPr lang="en-US" sz="480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 y="381000"/>
            <a:ext cx="1924050" cy="2371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10200" y="5029200"/>
            <a:ext cx="2714625" cy="1685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91700196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normAutofit fontScale="90000"/>
          </a:bodyPr>
          <a:lstStyle/>
          <a:p>
            <a:pPr algn="l"/>
            <a:r>
              <a:rPr lang="en-US" smtClean="0"/>
              <a:t>Ide Pembelajaran</a:t>
            </a:r>
            <a:endParaRPr lang="en-US"/>
          </a:p>
        </p:txBody>
      </p:sp>
      <p:sp>
        <p:nvSpPr>
          <p:cNvPr id="3" name="Content Placeholder 2"/>
          <p:cNvSpPr>
            <a:spLocks noGrp="1"/>
          </p:cNvSpPr>
          <p:nvPr>
            <p:ph idx="1"/>
          </p:nvPr>
        </p:nvSpPr>
        <p:spPr>
          <a:xfrm>
            <a:off x="457200" y="1066800"/>
            <a:ext cx="8229600" cy="5059363"/>
          </a:xfrm>
        </p:spPr>
        <p:txBody>
          <a:bodyPr>
            <a:normAutofit/>
          </a:bodyPr>
          <a:lstStyle/>
          <a:p>
            <a:r>
              <a:rPr lang="sv-SE" smtClean="0"/>
              <a:t>Fakta harian dalam 6 hari dan keputusan untuk berolahraga sebagai berikut :</a:t>
            </a:r>
          </a:p>
          <a:p>
            <a:pPr marL="0" indent="0">
              <a:buNone/>
            </a:pPr>
            <a:endParaRPr lang="en-US"/>
          </a:p>
        </p:txBody>
      </p:sp>
      <p:graphicFrame>
        <p:nvGraphicFramePr>
          <p:cNvPr id="4" name="Table 3"/>
          <p:cNvGraphicFramePr>
            <a:graphicFrameLocks noGrp="1"/>
          </p:cNvGraphicFramePr>
          <p:nvPr>
            <p:extLst>
              <p:ext uri="{D42A27DB-BD31-4B8C-83A1-F6EECF244321}">
                <p14:modId xmlns:p14="http://schemas.microsoft.com/office/powerpoint/2010/main" val="3530920594"/>
              </p:ext>
            </p:extLst>
          </p:nvPr>
        </p:nvGraphicFramePr>
        <p:xfrm>
          <a:off x="762000" y="2209800"/>
          <a:ext cx="6629400" cy="2595880"/>
        </p:xfrm>
        <a:graphic>
          <a:graphicData uri="http://schemas.openxmlformats.org/drawingml/2006/table">
            <a:tbl>
              <a:tblPr firstRow="1" bandRow="1">
                <a:tableStyleId>{5C22544A-7EE6-4342-B048-85BDC9FD1C3A}</a:tableStyleId>
              </a:tblPr>
              <a:tblGrid>
                <a:gridCol w="647700"/>
                <a:gridCol w="1295400"/>
                <a:gridCol w="1619250"/>
                <a:gridCol w="1619250"/>
                <a:gridCol w="1447800"/>
              </a:tblGrid>
              <a:tr h="370840">
                <a:tc>
                  <a:txBody>
                    <a:bodyPr/>
                    <a:lstStyle/>
                    <a:p>
                      <a:r>
                        <a:rPr lang="en-US" smtClean="0"/>
                        <a:t>NO</a:t>
                      </a:r>
                      <a:endParaRPr lang="en-US"/>
                    </a:p>
                  </a:txBody>
                  <a:tcPr/>
                </a:tc>
                <a:tc>
                  <a:txBody>
                    <a:bodyPr/>
                    <a:lstStyle/>
                    <a:p>
                      <a:r>
                        <a:rPr lang="en-US" smtClean="0"/>
                        <a:t>Cuaca</a:t>
                      </a:r>
                      <a:endParaRPr lang="en-US"/>
                    </a:p>
                  </a:txBody>
                  <a:tcPr/>
                </a:tc>
                <a:tc>
                  <a:txBody>
                    <a:bodyPr/>
                    <a:lstStyle/>
                    <a:p>
                      <a:r>
                        <a:rPr lang="en-US" smtClean="0"/>
                        <a:t>Temperatur</a:t>
                      </a:r>
                      <a:endParaRPr lang="en-US"/>
                    </a:p>
                  </a:txBody>
                  <a:tcPr/>
                </a:tc>
                <a:tc>
                  <a:txBody>
                    <a:bodyPr/>
                    <a:lstStyle/>
                    <a:p>
                      <a:r>
                        <a:rPr lang="en-US" smtClean="0"/>
                        <a:t>Kec . Angin</a:t>
                      </a:r>
                      <a:endParaRPr lang="en-US"/>
                    </a:p>
                  </a:txBody>
                  <a:tcPr/>
                </a:tc>
                <a:tc>
                  <a:txBody>
                    <a:bodyPr/>
                    <a:lstStyle/>
                    <a:p>
                      <a:r>
                        <a:rPr lang="en-US" smtClean="0"/>
                        <a:t>Berolah Raga</a:t>
                      </a:r>
                      <a:endParaRPr lang="en-US"/>
                    </a:p>
                  </a:txBody>
                  <a:tcPr/>
                </a:tc>
              </a:tr>
              <a:tr h="370840">
                <a:tc>
                  <a:txBody>
                    <a:bodyPr/>
                    <a:lstStyle/>
                    <a:p>
                      <a:r>
                        <a:rPr lang="en-US" smtClean="0"/>
                        <a:t>1</a:t>
                      </a:r>
                      <a:endParaRPr lang="en-US"/>
                    </a:p>
                  </a:txBody>
                  <a:tcPr/>
                </a:tc>
                <a:tc>
                  <a:txBody>
                    <a:bodyPr/>
                    <a:lstStyle/>
                    <a:p>
                      <a:r>
                        <a:rPr lang="en-US" smtClean="0"/>
                        <a:t>Cerah</a:t>
                      </a:r>
                      <a:endParaRPr lang="en-US"/>
                    </a:p>
                  </a:txBody>
                  <a:tcPr/>
                </a:tc>
                <a:tc>
                  <a:txBody>
                    <a:bodyPr/>
                    <a:lstStyle/>
                    <a:p>
                      <a:r>
                        <a:rPr lang="en-US" smtClean="0"/>
                        <a:t>Normal</a:t>
                      </a:r>
                      <a:endParaRPr lang="en-US"/>
                    </a:p>
                  </a:txBody>
                  <a:tcPr/>
                </a:tc>
                <a:tc>
                  <a:txBody>
                    <a:bodyPr/>
                    <a:lstStyle/>
                    <a:p>
                      <a:r>
                        <a:rPr lang="en-US" smtClean="0"/>
                        <a:t>Pelan</a:t>
                      </a:r>
                      <a:endParaRPr lang="en-US"/>
                    </a:p>
                  </a:txBody>
                  <a:tcPr/>
                </a:tc>
                <a:tc>
                  <a:txBody>
                    <a:bodyPr/>
                    <a:lstStyle/>
                    <a:p>
                      <a:r>
                        <a:rPr lang="en-US" smtClean="0"/>
                        <a:t>Ya</a:t>
                      </a:r>
                      <a:endParaRPr lang="en-US"/>
                    </a:p>
                  </a:txBody>
                  <a:tcPr/>
                </a:tc>
              </a:tr>
              <a:tr h="370840">
                <a:tc>
                  <a:txBody>
                    <a:bodyPr/>
                    <a:lstStyle/>
                    <a:p>
                      <a:r>
                        <a:rPr lang="en-US" smtClean="0"/>
                        <a:t>2</a:t>
                      </a:r>
                      <a:endParaRPr lang="en-US"/>
                    </a:p>
                  </a:txBody>
                  <a:tcPr/>
                </a:tc>
                <a:tc>
                  <a:txBody>
                    <a:bodyPr/>
                    <a:lstStyle/>
                    <a:p>
                      <a:r>
                        <a:rPr lang="en-US" smtClean="0"/>
                        <a:t>Cerah</a:t>
                      </a:r>
                      <a:endParaRPr lang="en-US"/>
                    </a:p>
                  </a:txBody>
                  <a:tcPr/>
                </a:tc>
                <a:tc>
                  <a:txBody>
                    <a:bodyPr/>
                    <a:lstStyle/>
                    <a:p>
                      <a:r>
                        <a:rPr lang="en-US" smtClean="0"/>
                        <a:t>Normal</a:t>
                      </a:r>
                      <a:endParaRPr lang="en-US"/>
                    </a:p>
                  </a:txBody>
                  <a:tcPr/>
                </a:tc>
                <a:tc>
                  <a:txBody>
                    <a:bodyPr/>
                    <a:lstStyle/>
                    <a:p>
                      <a:r>
                        <a:rPr lang="en-US" smtClean="0"/>
                        <a:t>Pelan</a:t>
                      </a:r>
                      <a:endParaRPr lang="en-US"/>
                    </a:p>
                  </a:txBody>
                  <a:tcPr/>
                </a:tc>
                <a:tc>
                  <a:txBody>
                    <a:bodyPr/>
                    <a:lstStyle/>
                    <a:p>
                      <a:r>
                        <a:rPr lang="en-US" smtClean="0"/>
                        <a:t>Ya</a:t>
                      </a:r>
                      <a:endParaRPr lang="en-US"/>
                    </a:p>
                  </a:txBody>
                  <a:tcPr/>
                </a:tc>
              </a:tr>
              <a:tr h="370840">
                <a:tc>
                  <a:txBody>
                    <a:bodyPr/>
                    <a:lstStyle/>
                    <a:p>
                      <a:r>
                        <a:rPr lang="en-US" smtClean="0"/>
                        <a:t>3</a:t>
                      </a:r>
                      <a:endParaRPr lang="en-US"/>
                    </a:p>
                  </a:txBody>
                  <a:tcPr/>
                </a:tc>
                <a:tc>
                  <a:txBody>
                    <a:bodyPr/>
                    <a:lstStyle/>
                    <a:p>
                      <a:r>
                        <a:rPr lang="en-US" smtClean="0"/>
                        <a:t>Hujan</a:t>
                      </a:r>
                      <a:endParaRPr lang="en-US"/>
                    </a:p>
                  </a:txBody>
                  <a:tcPr/>
                </a:tc>
                <a:tc>
                  <a:txBody>
                    <a:bodyPr/>
                    <a:lstStyle/>
                    <a:p>
                      <a:r>
                        <a:rPr lang="en-US" smtClean="0"/>
                        <a:t>Tinggi</a:t>
                      </a:r>
                      <a:endParaRPr lang="en-US"/>
                    </a:p>
                  </a:txBody>
                  <a:tcPr/>
                </a:tc>
                <a:tc>
                  <a:txBody>
                    <a:bodyPr/>
                    <a:lstStyle/>
                    <a:p>
                      <a:r>
                        <a:rPr lang="en-US" smtClean="0"/>
                        <a:t>Pelan</a:t>
                      </a:r>
                      <a:endParaRPr lang="en-US"/>
                    </a:p>
                  </a:txBody>
                  <a:tcPr/>
                </a:tc>
                <a:tc>
                  <a:txBody>
                    <a:bodyPr/>
                    <a:lstStyle/>
                    <a:p>
                      <a:r>
                        <a:rPr lang="en-US" smtClean="0"/>
                        <a:t>Tidak</a:t>
                      </a:r>
                      <a:endParaRPr lang="en-US"/>
                    </a:p>
                  </a:txBody>
                  <a:tcPr/>
                </a:tc>
              </a:tr>
              <a:tr h="370840">
                <a:tc>
                  <a:txBody>
                    <a:bodyPr/>
                    <a:lstStyle/>
                    <a:p>
                      <a:r>
                        <a:rPr lang="en-US" smtClean="0"/>
                        <a:t>4</a:t>
                      </a:r>
                      <a:endParaRPr lang="en-US"/>
                    </a:p>
                  </a:txBody>
                  <a:tcPr/>
                </a:tc>
                <a:tc>
                  <a:txBody>
                    <a:bodyPr/>
                    <a:lstStyle/>
                    <a:p>
                      <a:r>
                        <a:rPr lang="en-US" smtClean="0"/>
                        <a:t>Cerah</a:t>
                      </a:r>
                      <a:endParaRPr lang="en-US"/>
                    </a:p>
                  </a:txBody>
                  <a:tcPr/>
                </a:tc>
                <a:tc>
                  <a:txBody>
                    <a:bodyPr/>
                    <a:lstStyle/>
                    <a:p>
                      <a:r>
                        <a:rPr lang="en-US" smtClean="0"/>
                        <a:t>Normal</a:t>
                      </a:r>
                      <a:endParaRPr lang="en-US"/>
                    </a:p>
                  </a:txBody>
                  <a:tcPr/>
                </a:tc>
                <a:tc>
                  <a:txBody>
                    <a:bodyPr/>
                    <a:lstStyle/>
                    <a:p>
                      <a:r>
                        <a:rPr lang="en-US" smtClean="0"/>
                        <a:t>Kencang</a:t>
                      </a:r>
                      <a:endParaRPr lang="en-US"/>
                    </a:p>
                  </a:txBody>
                  <a:tcPr/>
                </a:tc>
                <a:tc>
                  <a:txBody>
                    <a:bodyPr/>
                    <a:lstStyle/>
                    <a:p>
                      <a:r>
                        <a:rPr lang="en-US" smtClean="0"/>
                        <a:t>Ya</a:t>
                      </a:r>
                      <a:endParaRPr lang="en-US"/>
                    </a:p>
                  </a:txBody>
                  <a:tcPr/>
                </a:tc>
              </a:tr>
              <a:tr h="370840">
                <a:tc>
                  <a:txBody>
                    <a:bodyPr/>
                    <a:lstStyle/>
                    <a:p>
                      <a:r>
                        <a:rPr lang="en-US" smtClean="0"/>
                        <a:t>5</a:t>
                      </a:r>
                      <a:endParaRPr lang="en-US"/>
                    </a:p>
                  </a:txBody>
                  <a:tcPr/>
                </a:tc>
                <a:tc>
                  <a:txBody>
                    <a:bodyPr/>
                    <a:lstStyle/>
                    <a:p>
                      <a:r>
                        <a:rPr lang="en-US" smtClean="0"/>
                        <a:t>Hujan</a:t>
                      </a:r>
                      <a:endParaRPr lang="en-US"/>
                    </a:p>
                  </a:txBody>
                  <a:tcPr/>
                </a:tc>
                <a:tc>
                  <a:txBody>
                    <a:bodyPr/>
                    <a:lstStyle/>
                    <a:p>
                      <a:r>
                        <a:rPr lang="en-US" smtClean="0"/>
                        <a:t>Tinggi</a:t>
                      </a:r>
                      <a:endParaRPr lang="en-US"/>
                    </a:p>
                  </a:txBody>
                  <a:tcPr/>
                </a:tc>
                <a:tc>
                  <a:txBody>
                    <a:bodyPr/>
                    <a:lstStyle/>
                    <a:p>
                      <a:r>
                        <a:rPr lang="en-US" smtClean="0"/>
                        <a:t>Kencang</a:t>
                      </a:r>
                      <a:endParaRPr lang="en-US"/>
                    </a:p>
                  </a:txBody>
                  <a:tcPr/>
                </a:tc>
                <a:tc>
                  <a:txBody>
                    <a:bodyPr/>
                    <a:lstStyle/>
                    <a:p>
                      <a:r>
                        <a:rPr lang="en-US" smtClean="0"/>
                        <a:t>Tidak</a:t>
                      </a:r>
                      <a:endParaRPr lang="en-US"/>
                    </a:p>
                  </a:txBody>
                  <a:tcPr/>
                </a:tc>
              </a:tr>
              <a:tr h="370840">
                <a:tc>
                  <a:txBody>
                    <a:bodyPr/>
                    <a:lstStyle/>
                    <a:p>
                      <a:r>
                        <a:rPr lang="en-US" smtClean="0"/>
                        <a:t>6</a:t>
                      </a:r>
                      <a:endParaRPr lang="en-US"/>
                    </a:p>
                  </a:txBody>
                  <a:tcPr/>
                </a:tc>
                <a:tc>
                  <a:txBody>
                    <a:bodyPr/>
                    <a:lstStyle/>
                    <a:p>
                      <a:r>
                        <a:rPr lang="en-US" smtClean="0"/>
                        <a:t>Cerah</a:t>
                      </a:r>
                      <a:endParaRPr lang="en-US"/>
                    </a:p>
                  </a:txBody>
                  <a:tcPr/>
                </a:tc>
                <a:tc>
                  <a:txBody>
                    <a:bodyPr/>
                    <a:lstStyle/>
                    <a:p>
                      <a:r>
                        <a:rPr lang="en-US" smtClean="0"/>
                        <a:t>Normal</a:t>
                      </a:r>
                      <a:endParaRPr lang="en-US"/>
                    </a:p>
                  </a:txBody>
                  <a:tcPr/>
                </a:tc>
                <a:tc>
                  <a:txBody>
                    <a:bodyPr/>
                    <a:lstStyle/>
                    <a:p>
                      <a:r>
                        <a:rPr lang="en-US" smtClean="0"/>
                        <a:t>Pelan</a:t>
                      </a:r>
                      <a:endParaRPr lang="en-US"/>
                    </a:p>
                  </a:txBody>
                  <a:tcPr/>
                </a:tc>
                <a:tc>
                  <a:txBody>
                    <a:bodyPr/>
                    <a:lstStyle/>
                    <a:p>
                      <a:r>
                        <a:rPr lang="en-US" smtClean="0"/>
                        <a:t>Ya</a:t>
                      </a:r>
                      <a:endParaRPr lang="en-US"/>
                    </a:p>
                  </a:txBody>
                  <a:tcPr/>
                </a:tc>
              </a:tr>
            </a:tbl>
          </a:graphicData>
        </a:graphic>
      </p:graphicFrame>
      <p:sp>
        <p:nvSpPr>
          <p:cNvPr id="5" name="TextBox 4"/>
          <p:cNvSpPr txBox="1"/>
          <p:nvPr/>
        </p:nvSpPr>
        <p:spPr>
          <a:xfrm>
            <a:off x="838200" y="5410200"/>
            <a:ext cx="7315200" cy="646331"/>
          </a:xfrm>
          <a:prstGeom prst="rect">
            <a:avLst/>
          </a:prstGeom>
          <a:noFill/>
        </p:spPr>
        <p:txBody>
          <a:bodyPr wrap="square" rtlCol="0">
            <a:spAutoFit/>
          </a:bodyPr>
          <a:lstStyle/>
          <a:p>
            <a:pPr marL="342900" indent="-342900">
              <a:buAutoNum type="arabicParenBoth"/>
            </a:pPr>
            <a:r>
              <a:rPr lang="en-US" smtClean="0"/>
              <a:t>Ketika cuaca cerah, apakah akan berolah raga?</a:t>
            </a:r>
          </a:p>
          <a:p>
            <a:pPr marL="342900" indent="-342900">
              <a:buAutoNum type="arabicParenBoth"/>
            </a:pPr>
            <a:r>
              <a:rPr lang="en-US" smtClean="0"/>
              <a:t>Ketika cuaca cerah dan temperatur nornal, apakah akan berolah raga?</a:t>
            </a:r>
            <a:endParaRPr lang="en-US"/>
          </a:p>
        </p:txBody>
      </p:sp>
    </p:spTree>
    <p:extLst>
      <p:ext uri="{BB962C8B-B14F-4D97-AF65-F5344CB8AC3E}">
        <p14:creationId xmlns:p14="http://schemas.microsoft.com/office/powerpoint/2010/main" val="2157869670"/>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Data Training</a:t>
            </a:r>
            <a:endParaRPr lang="en-US"/>
          </a:p>
        </p:txBody>
      </p:sp>
      <p:sp>
        <p:nvSpPr>
          <p:cNvPr id="5" name="Content Placeholder 4"/>
          <p:cNvSpPr>
            <a:spLocks noGrp="1"/>
          </p:cNvSpPr>
          <p:nvPr>
            <p:ph idx="1"/>
          </p:nvPr>
        </p:nvSpPr>
        <p:spPr/>
        <p:txBody>
          <a:bodyPr/>
          <a:lstStyle/>
          <a:p>
            <a:pPr marL="0" indent="0">
              <a:buNone/>
            </a:pPr>
            <a:endParaRPr lang="en-US" smtClean="0"/>
          </a:p>
          <a:p>
            <a:pPr marL="0" indent="0">
              <a:buNone/>
            </a:pPr>
            <a:endParaRPr lang="en-US" smtClean="0"/>
          </a:p>
          <a:p>
            <a:endParaRPr lang="en-US"/>
          </a:p>
        </p:txBody>
      </p:sp>
      <p:sp>
        <p:nvSpPr>
          <p:cNvPr id="7" name="Content Placeholder 4"/>
          <p:cNvSpPr txBox="1">
            <a:spLocks/>
          </p:cNvSpPr>
          <p:nvPr/>
        </p:nvSpPr>
        <p:spPr>
          <a:xfrm>
            <a:off x="609600" y="1752600"/>
            <a:ext cx="8229600" cy="4525963"/>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endParaRPr lang="en-US" smtClean="0"/>
          </a:p>
          <a:p>
            <a:pPr marL="0" indent="0">
              <a:buFont typeface="Arial" pitchFamily="34" charset="0"/>
              <a:buNone/>
            </a:pPr>
            <a:endParaRPr lang="en-US" smtClean="0"/>
          </a:p>
          <a:p>
            <a:endParaRPr lang="en-US"/>
          </a:p>
        </p:txBody>
      </p:sp>
      <p:graphicFrame>
        <p:nvGraphicFramePr>
          <p:cNvPr id="8" name="Table 7"/>
          <p:cNvGraphicFramePr>
            <a:graphicFrameLocks noGrp="1"/>
          </p:cNvGraphicFramePr>
          <p:nvPr>
            <p:extLst>
              <p:ext uri="{D42A27DB-BD31-4B8C-83A1-F6EECF244321}">
                <p14:modId xmlns:p14="http://schemas.microsoft.com/office/powerpoint/2010/main" val="1112440281"/>
              </p:ext>
            </p:extLst>
          </p:nvPr>
        </p:nvGraphicFramePr>
        <p:xfrm>
          <a:off x="685800" y="2057400"/>
          <a:ext cx="6629400" cy="2595880"/>
        </p:xfrm>
        <a:graphic>
          <a:graphicData uri="http://schemas.openxmlformats.org/drawingml/2006/table">
            <a:tbl>
              <a:tblPr firstRow="1" bandRow="1">
                <a:tableStyleId>{5C22544A-7EE6-4342-B048-85BDC9FD1C3A}</a:tableStyleId>
              </a:tblPr>
              <a:tblGrid>
                <a:gridCol w="647700"/>
                <a:gridCol w="1295400"/>
                <a:gridCol w="1619250"/>
                <a:gridCol w="1619250"/>
                <a:gridCol w="1447800"/>
              </a:tblGrid>
              <a:tr h="370840">
                <a:tc>
                  <a:txBody>
                    <a:bodyPr/>
                    <a:lstStyle/>
                    <a:p>
                      <a:r>
                        <a:rPr lang="en-US" smtClean="0"/>
                        <a:t>Day</a:t>
                      </a:r>
                      <a:endParaRPr lang="en-US"/>
                    </a:p>
                  </a:txBody>
                  <a:tcPr/>
                </a:tc>
                <a:tc>
                  <a:txBody>
                    <a:bodyPr/>
                    <a:lstStyle/>
                    <a:p>
                      <a:r>
                        <a:rPr lang="en-US" smtClean="0"/>
                        <a:t>Cuaca</a:t>
                      </a:r>
                      <a:endParaRPr lang="en-US"/>
                    </a:p>
                  </a:txBody>
                  <a:tcPr/>
                </a:tc>
                <a:tc>
                  <a:txBody>
                    <a:bodyPr/>
                    <a:lstStyle/>
                    <a:p>
                      <a:r>
                        <a:rPr lang="en-US" smtClean="0"/>
                        <a:t>Temperatur</a:t>
                      </a:r>
                      <a:endParaRPr lang="en-US"/>
                    </a:p>
                  </a:txBody>
                  <a:tcPr/>
                </a:tc>
                <a:tc>
                  <a:txBody>
                    <a:bodyPr/>
                    <a:lstStyle/>
                    <a:p>
                      <a:r>
                        <a:rPr lang="en-US" smtClean="0"/>
                        <a:t>Kec . Angin</a:t>
                      </a:r>
                      <a:endParaRPr lang="en-US"/>
                    </a:p>
                  </a:txBody>
                  <a:tcPr/>
                </a:tc>
                <a:tc>
                  <a:txBody>
                    <a:bodyPr/>
                    <a:lstStyle/>
                    <a:p>
                      <a:r>
                        <a:rPr lang="en-US" smtClean="0"/>
                        <a:t>Berolah Raga</a:t>
                      </a:r>
                      <a:endParaRPr lang="en-US"/>
                    </a:p>
                  </a:txBody>
                  <a:tcPr/>
                </a:tc>
              </a:tr>
              <a:tr h="370840">
                <a:tc>
                  <a:txBody>
                    <a:bodyPr/>
                    <a:lstStyle/>
                    <a:p>
                      <a:r>
                        <a:rPr lang="en-US" smtClean="0"/>
                        <a:t>1</a:t>
                      </a:r>
                      <a:endParaRPr lang="en-US"/>
                    </a:p>
                  </a:txBody>
                  <a:tcPr/>
                </a:tc>
                <a:tc>
                  <a:txBody>
                    <a:bodyPr/>
                    <a:lstStyle/>
                    <a:p>
                      <a:r>
                        <a:rPr lang="en-US" smtClean="0"/>
                        <a:t>Cerah</a:t>
                      </a:r>
                      <a:endParaRPr lang="en-US"/>
                    </a:p>
                  </a:txBody>
                  <a:tcPr/>
                </a:tc>
                <a:tc>
                  <a:txBody>
                    <a:bodyPr/>
                    <a:lstStyle/>
                    <a:p>
                      <a:r>
                        <a:rPr lang="en-US" smtClean="0"/>
                        <a:t>Normal</a:t>
                      </a:r>
                      <a:endParaRPr lang="en-US"/>
                    </a:p>
                  </a:txBody>
                  <a:tcPr/>
                </a:tc>
                <a:tc>
                  <a:txBody>
                    <a:bodyPr/>
                    <a:lstStyle/>
                    <a:p>
                      <a:r>
                        <a:rPr lang="en-US" smtClean="0"/>
                        <a:t>Pelan</a:t>
                      </a:r>
                      <a:endParaRPr lang="en-US"/>
                    </a:p>
                  </a:txBody>
                  <a:tcPr/>
                </a:tc>
                <a:tc>
                  <a:txBody>
                    <a:bodyPr/>
                    <a:lstStyle/>
                    <a:p>
                      <a:r>
                        <a:rPr lang="en-US" smtClean="0"/>
                        <a:t>Ya</a:t>
                      </a:r>
                      <a:endParaRPr lang="en-US"/>
                    </a:p>
                  </a:txBody>
                  <a:tcPr/>
                </a:tc>
              </a:tr>
              <a:tr h="370840">
                <a:tc>
                  <a:txBody>
                    <a:bodyPr/>
                    <a:lstStyle/>
                    <a:p>
                      <a:r>
                        <a:rPr lang="en-US" smtClean="0"/>
                        <a:t>2</a:t>
                      </a:r>
                      <a:endParaRPr lang="en-US"/>
                    </a:p>
                  </a:txBody>
                  <a:tcPr/>
                </a:tc>
                <a:tc>
                  <a:txBody>
                    <a:bodyPr/>
                    <a:lstStyle/>
                    <a:p>
                      <a:r>
                        <a:rPr lang="en-US" smtClean="0"/>
                        <a:t>Cerah</a:t>
                      </a:r>
                      <a:endParaRPr lang="en-US"/>
                    </a:p>
                  </a:txBody>
                  <a:tcPr/>
                </a:tc>
                <a:tc>
                  <a:txBody>
                    <a:bodyPr/>
                    <a:lstStyle/>
                    <a:p>
                      <a:r>
                        <a:rPr lang="en-US" smtClean="0"/>
                        <a:t>Normal</a:t>
                      </a:r>
                      <a:endParaRPr lang="en-US"/>
                    </a:p>
                  </a:txBody>
                  <a:tcPr/>
                </a:tc>
                <a:tc>
                  <a:txBody>
                    <a:bodyPr/>
                    <a:lstStyle/>
                    <a:p>
                      <a:r>
                        <a:rPr lang="en-US" smtClean="0"/>
                        <a:t>Pelan</a:t>
                      </a:r>
                      <a:endParaRPr lang="en-US"/>
                    </a:p>
                  </a:txBody>
                  <a:tcPr/>
                </a:tc>
                <a:tc>
                  <a:txBody>
                    <a:bodyPr/>
                    <a:lstStyle/>
                    <a:p>
                      <a:r>
                        <a:rPr lang="en-US" smtClean="0"/>
                        <a:t>Ya</a:t>
                      </a:r>
                      <a:endParaRPr lang="en-US"/>
                    </a:p>
                  </a:txBody>
                  <a:tcPr/>
                </a:tc>
              </a:tr>
              <a:tr h="370840">
                <a:tc>
                  <a:txBody>
                    <a:bodyPr/>
                    <a:lstStyle/>
                    <a:p>
                      <a:r>
                        <a:rPr lang="en-US" smtClean="0"/>
                        <a:t>3</a:t>
                      </a:r>
                      <a:endParaRPr lang="en-US"/>
                    </a:p>
                  </a:txBody>
                  <a:tcPr/>
                </a:tc>
                <a:tc>
                  <a:txBody>
                    <a:bodyPr/>
                    <a:lstStyle/>
                    <a:p>
                      <a:r>
                        <a:rPr lang="en-US" smtClean="0"/>
                        <a:t>Hujan</a:t>
                      </a:r>
                      <a:endParaRPr lang="en-US"/>
                    </a:p>
                  </a:txBody>
                  <a:tcPr/>
                </a:tc>
                <a:tc>
                  <a:txBody>
                    <a:bodyPr/>
                    <a:lstStyle/>
                    <a:p>
                      <a:r>
                        <a:rPr lang="en-US" smtClean="0"/>
                        <a:t>Tinggi</a:t>
                      </a:r>
                      <a:endParaRPr lang="en-US"/>
                    </a:p>
                  </a:txBody>
                  <a:tcPr/>
                </a:tc>
                <a:tc>
                  <a:txBody>
                    <a:bodyPr/>
                    <a:lstStyle/>
                    <a:p>
                      <a:r>
                        <a:rPr lang="en-US" smtClean="0"/>
                        <a:t>Pelan</a:t>
                      </a:r>
                      <a:endParaRPr lang="en-US"/>
                    </a:p>
                  </a:txBody>
                  <a:tcPr/>
                </a:tc>
                <a:tc>
                  <a:txBody>
                    <a:bodyPr/>
                    <a:lstStyle/>
                    <a:p>
                      <a:r>
                        <a:rPr lang="en-US" smtClean="0"/>
                        <a:t>Tidak</a:t>
                      </a:r>
                      <a:endParaRPr lang="en-US"/>
                    </a:p>
                  </a:txBody>
                  <a:tcPr/>
                </a:tc>
              </a:tr>
              <a:tr h="370840">
                <a:tc>
                  <a:txBody>
                    <a:bodyPr/>
                    <a:lstStyle/>
                    <a:p>
                      <a:r>
                        <a:rPr lang="en-US" smtClean="0"/>
                        <a:t>4</a:t>
                      </a:r>
                      <a:endParaRPr lang="en-US"/>
                    </a:p>
                  </a:txBody>
                  <a:tcPr/>
                </a:tc>
                <a:tc>
                  <a:txBody>
                    <a:bodyPr/>
                    <a:lstStyle/>
                    <a:p>
                      <a:r>
                        <a:rPr lang="en-US" smtClean="0"/>
                        <a:t>Cerah</a:t>
                      </a:r>
                      <a:endParaRPr lang="en-US"/>
                    </a:p>
                  </a:txBody>
                  <a:tcPr/>
                </a:tc>
                <a:tc>
                  <a:txBody>
                    <a:bodyPr/>
                    <a:lstStyle/>
                    <a:p>
                      <a:r>
                        <a:rPr lang="en-US" smtClean="0"/>
                        <a:t>Normal</a:t>
                      </a:r>
                      <a:endParaRPr lang="en-US"/>
                    </a:p>
                  </a:txBody>
                  <a:tcPr/>
                </a:tc>
                <a:tc>
                  <a:txBody>
                    <a:bodyPr/>
                    <a:lstStyle/>
                    <a:p>
                      <a:r>
                        <a:rPr lang="en-US" smtClean="0"/>
                        <a:t>Kencang</a:t>
                      </a:r>
                      <a:endParaRPr lang="en-US"/>
                    </a:p>
                  </a:txBody>
                  <a:tcPr/>
                </a:tc>
                <a:tc>
                  <a:txBody>
                    <a:bodyPr/>
                    <a:lstStyle/>
                    <a:p>
                      <a:r>
                        <a:rPr lang="en-US" smtClean="0"/>
                        <a:t>Ya</a:t>
                      </a:r>
                      <a:endParaRPr lang="en-US"/>
                    </a:p>
                  </a:txBody>
                  <a:tcPr/>
                </a:tc>
              </a:tr>
              <a:tr h="370840">
                <a:tc>
                  <a:txBody>
                    <a:bodyPr/>
                    <a:lstStyle/>
                    <a:p>
                      <a:r>
                        <a:rPr lang="en-US" smtClean="0"/>
                        <a:t>5</a:t>
                      </a:r>
                      <a:endParaRPr lang="en-US"/>
                    </a:p>
                  </a:txBody>
                  <a:tcPr/>
                </a:tc>
                <a:tc>
                  <a:txBody>
                    <a:bodyPr/>
                    <a:lstStyle/>
                    <a:p>
                      <a:r>
                        <a:rPr lang="en-US" smtClean="0"/>
                        <a:t>Hujan</a:t>
                      </a:r>
                      <a:endParaRPr lang="en-US"/>
                    </a:p>
                  </a:txBody>
                  <a:tcPr/>
                </a:tc>
                <a:tc>
                  <a:txBody>
                    <a:bodyPr/>
                    <a:lstStyle/>
                    <a:p>
                      <a:r>
                        <a:rPr lang="en-US" smtClean="0"/>
                        <a:t>Tinggi</a:t>
                      </a:r>
                      <a:endParaRPr lang="en-US"/>
                    </a:p>
                  </a:txBody>
                  <a:tcPr/>
                </a:tc>
                <a:tc>
                  <a:txBody>
                    <a:bodyPr/>
                    <a:lstStyle/>
                    <a:p>
                      <a:r>
                        <a:rPr lang="en-US" smtClean="0"/>
                        <a:t>Kencang</a:t>
                      </a:r>
                      <a:endParaRPr lang="en-US"/>
                    </a:p>
                  </a:txBody>
                  <a:tcPr/>
                </a:tc>
                <a:tc>
                  <a:txBody>
                    <a:bodyPr/>
                    <a:lstStyle/>
                    <a:p>
                      <a:r>
                        <a:rPr lang="en-US" smtClean="0"/>
                        <a:t>Tidak</a:t>
                      </a:r>
                      <a:endParaRPr lang="en-US"/>
                    </a:p>
                  </a:txBody>
                  <a:tcPr/>
                </a:tc>
              </a:tr>
              <a:tr h="370840">
                <a:tc>
                  <a:txBody>
                    <a:bodyPr/>
                    <a:lstStyle/>
                    <a:p>
                      <a:r>
                        <a:rPr lang="en-US" smtClean="0"/>
                        <a:t>6</a:t>
                      </a:r>
                      <a:endParaRPr lang="en-US"/>
                    </a:p>
                  </a:txBody>
                  <a:tcPr/>
                </a:tc>
                <a:tc>
                  <a:txBody>
                    <a:bodyPr/>
                    <a:lstStyle/>
                    <a:p>
                      <a:r>
                        <a:rPr lang="en-US" smtClean="0"/>
                        <a:t>Cerah</a:t>
                      </a:r>
                      <a:endParaRPr lang="en-US"/>
                    </a:p>
                  </a:txBody>
                  <a:tcPr/>
                </a:tc>
                <a:tc>
                  <a:txBody>
                    <a:bodyPr/>
                    <a:lstStyle/>
                    <a:p>
                      <a:r>
                        <a:rPr lang="en-US" smtClean="0"/>
                        <a:t>Normal</a:t>
                      </a:r>
                      <a:endParaRPr lang="en-US"/>
                    </a:p>
                  </a:txBody>
                  <a:tcPr/>
                </a:tc>
                <a:tc>
                  <a:txBody>
                    <a:bodyPr/>
                    <a:lstStyle/>
                    <a:p>
                      <a:r>
                        <a:rPr lang="en-US" smtClean="0"/>
                        <a:t>Pelan</a:t>
                      </a:r>
                      <a:endParaRPr lang="en-US"/>
                    </a:p>
                  </a:txBody>
                  <a:tcPr/>
                </a:tc>
                <a:tc>
                  <a:txBody>
                    <a:bodyPr/>
                    <a:lstStyle/>
                    <a:p>
                      <a:r>
                        <a:rPr lang="en-US" smtClean="0"/>
                        <a:t>Ya</a:t>
                      </a:r>
                      <a:endParaRPr lang="en-US"/>
                    </a:p>
                  </a:txBody>
                  <a:tcPr/>
                </a:tc>
              </a:tr>
            </a:tbl>
          </a:graphicData>
        </a:graphic>
      </p:graphicFrame>
      <p:sp>
        <p:nvSpPr>
          <p:cNvPr id="6" name="TextBox 5"/>
          <p:cNvSpPr txBox="1"/>
          <p:nvPr/>
        </p:nvSpPr>
        <p:spPr>
          <a:xfrm>
            <a:off x="1352266" y="1362796"/>
            <a:ext cx="4343400" cy="369332"/>
          </a:xfrm>
          <a:prstGeom prst="rect">
            <a:avLst/>
          </a:prstGeom>
          <a:noFill/>
        </p:spPr>
        <p:txBody>
          <a:bodyPr wrap="square" rtlCol="0">
            <a:spAutoFit/>
          </a:bodyPr>
          <a:lstStyle/>
          <a:p>
            <a:pPr algn="ctr"/>
            <a:r>
              <a:rPr lang="en-US" smtClean="0"/>
              <a:t>Atribut</a:t>
            </a:r>
            <a:endParaRPr lang="en-US"/>
          </a:p>
        </p:txBody>
      </p:sp>
      <p:sp>
        <p:nvSpPr>
          <p:cNvPr id="10" name="TextBox 9"/>
          <p:cNvSpPr txBox="1"/>
          <p:nvPr/>
        </p:nvSpPr>
        <p:spPr>
          <a:xfrm>
            <a:off x="5727511" y="1389249"/>
            <a:ext cx="1295400" cy="369332"/>
          </a:xfrm>
          <a:prstGeom prst="rect">
            <a:avLst/>
          </a:prstGeom>
          <a:noFill/>
        </p:spPr>
        <p:txBody>
          <a:bodyPr wrap="square" rtlCol="0">
            <a:spAutoFit/>
          </a:bodyPr>
          <a:lstStyle/>
          <a:p>
            <a:pPr algn="ctr"/>
            <a:r>
              <a:rPr lang="en-US" smtClean="0"/>
              <a:t>Target</a:t>
            </a:r>
            <a:endParaRPr lang="en-US"/>
          </a:p>
        </p:txBody>
      </p:sp>
      <p:cxnSp>
        <p:nvCxnSpPr>
          <p:cNvPr id="13" name="Straight Arrow Connector 12"/>
          <p:cNvCxnSpPr/>
          <p:nvPr/>
        </p:nvCxnSpPr>
        <p:spPr>
          <a:xfrm>
            <a:off x="1285733" y="1740089"/>
            <a:ext cx="4476466" cy="0"/>
          </a:xfrm>
          <a:prstGeom prst="straightConnector1">
            <a:avLst/>
          </a:prstGeom>
          <a:ln>
            <a:headEnd type="arrow"/>
            <a:tailEnd type="arrow"/>
          </a:ln>
        </p:spPr>
        <p:style>
          <a:lnRef idx="1">
            <a:schemeClr val="accent1"/>
          </a:lnRef>
          <a:fillRef idx="0">
            <a:schemeClr val="accent1"/>
          </a:fillRef>
          <a:effectRef idx="0">
            <a:schemeClr val="accent1"/>
          </a:effectRef>
          <a:fontRef idx="minor">
            <a:schemeClr val="tx1"/>
          </a:fontRef>
        </p:style>
      </p:cxnSp>
      <p:sp>
        <p:nvSpPr>
          <p:cNvPr id="3" name="TextBox 2"/>
          <p:cNvSpPr txBox="1"/>
          <p:nvPr/>
        </p:nvSpPr>
        <p:spPr>
          <a:xfrm>
            <a:off x="762000" y="4800600"/>
            <a:ext cx="7620000" cy="1200329"/>
          </a:xfrm>
          <a:prstGeom prst="rect">
            <a:avLst/>
          </a:prstGeom>
          <a:noFill/>
        </p:spPr>
        <p:txBody>
          <a:bodyPr wrap="square" rtlCol="0">
            <a:spAutoFit/>
          </a:bodyPr>
          <a:lstStyle/>
          <a:p>
            <a:pPr marL="285750" indent="-285750">
              <a:buFont typeface="Arial" pitchFamily="34" charset="0"/>
              <a:buChar char="•"/>
            </a:pPr>
            <a:r>
              <a:rPr lang="en-US"/>
              <a:t>Atrbut adalah kolom data, ada atribut dan target</a:t>
            </a:r>
          </a:p>
          <a:p>
            <a:pPr marL="285750" indent="-285750">
              <a:buFont typeface="Arial" pitchFamily="34" charset="0"/>
              <a:buChar char="•"/>
            </a:pPr>
            <a:r>
              <a:rPr lang="en-US"/>
              <a:t>Instance adalah isi dari attribut, sebagai contoh atribut cuaca mempunyai instance "cerah" dan "hujan", sering ditulis dengan cuaca={cerah, hujan}</a:t>
            </a:r>
          </a:p>
          <a:p>
            <a:pPr marL="285750" indent="-285750">
              <a:buFont typeface="Arial" pitchFamily="34" charset="0"/>
              <a:buChar char="•"/>
            </a:pPr>
            <a:r>
              <a:rPr lang="en-US"/>
              <a:t>Record/tuple adalah baris data</a:t>
            </a:r>
          </a:p>
        </p:txBody>
      </p:sp>
    </p:spTree>
    <p:extLst>
      <p:ext uri="{BB962C8B-B14F-4D97-AF65-F5344CB8AC3E}">
        <p14:creationId xmlns:p14="http://schemas.microsoft.com/office/powerpoint/2010/main" val="215304035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Data Konsisten</a:t>
            </a:r>
            <a:endParaRPr lang="en-US"/>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606420451"/>
              </p:ext>
            </p:extLst>
          </p:nvPr>
        </p:nvGraphicFramePr>
        <p:xfrm>
          <a:off x="457200" y="1600200"/>
          <a:ext cx="8229600" cy="1112520"/>
        </p:xfrm>
        <a:graphic>
          <a:graphicData uri="http://schemas.openxmlformats.org/drawingml/2006/table">
            <a:tbl>
              <a:tblPr firstRow="1" bandRow="1">
                <a:tableStyleId>{5C22544A-7EE6-4342-B048-85BDC9FD1C3A}</a:tableStyleId>
              </a:tblPr>
              <a:tblGrid>
                <a:gridCol w="533400"/>
                <a:gridCol w="1600200"/>
                <a:gridCol w="1828800"/>
                <a:gridCol w="2621280"/>
                <a:gridCol w="1645920"/>
              </a:tblGrid>
              <a:tr h="370840">
                <a:tc>
                  <a:txBody>
                    <a:bodyPr/>
                    <a:lstStyle/>
                    <a:p>
                      <a:r>
                        <a:rPr lang="en-US" smtClean="0"/>
                        <a:t>#</a:t>
                      </a:r>
                      <a:endParaRPr lang="en-US"/>
                    </a:p>
                  </a:txBody>
                  <a:tcPr/>
                </a:tc>
                <a:tc>
                  <a:txBody>
                    <a:bodyPr/>
                    <a:lstStyle/>
                    <a:p>
                      <a:r>
                        <a:rPr lang="en-US" smtClean="0"/>
                        <a:t>Cuaca</a:t>
                      </a:r>
                      <a:endParaRPr lang="en-US"/>
                    </a:p>
                  </a:txBody>
                  <a:tcPr/>
                </a:tc>
                <a:tc>
                  <a:txBody>
                    <a:bodyPr/>
                    <a:lstStyle/>
                    <a:p>
                      <a:r>
                        <a:rPr lang="en-US" smtClean="0"/>
                        <a:t>Temperatur</a:t>
                      </a:r>
                      <a:endParaRPr lang="en-US"/>
                    </a:p>
                  </a:txBody>
                  <a:tcPr/>
                </a:tc>
                <a:tc>
                  <a:txBody>
                    <a:bodyPr/>
                    <a:lstStyle/>
                    <a:p>
                      <a:r>
                        <a:rPr lang="en-US" smtClean="0"/>
                        <a:t>Kecepatan Angin</a:t>
                      </a:r>
                      <a:endParaRPr lang="en-US"/>
                    </a:p>
                  </a:txBody>
                  <a:tcPr/>
                </a:tc>
                <a:tc>
                  <a:txBody>
                    <a:bodyPr/>
                    <a:lstStyle/>
                    <a:p>
                      <a:r>
                        <a:rPr lang="en-US" smtClean="0"/>
                        <a:t>Berolah Raga</a:t>
                      </a:r>
                      <a:endParaRPr lang="en-US"/>
                    </a:p>
                  </a:txBody>
                  <a:tcPr/>
                </a:tc>
              </a:tr>
              <a:tr h="370840">
                <a:tc>
                  <a:txBody>
                    <a:bodyPr/>
                    <a:lstStyle/>
                    <a:p>
                      <a:r>
                        <a:rPr lang="en-US" smtClean="0"/>
                        <a:t>3</a:t>
                      </a:r>
                      <a:endParaRPr lang="en-US"/>
                    </a:p>
                  </a:txBody>
                  <a:tcPr/>
                </a:tc>
                <a:tc>
                  <a:txBody>
                    <a:bodyPr/>
                    <a:lstStyle/>
                    <a:p>
                      <a:r>
                        <a:rPr lang="en-US" smtClean="0"/>
                        <a:t>Hujan</a:t>
                      </a:r>
                      <a:endParaRPr lang="en-US"/>
                    </a:p>
                  </a:txBody>
                  <a:tcPr/>
                </a:tc>
                <a:tc>
                  <a:txBody>
                    <a:bodyPr/>
                    <a:lstStyle/>
                    <a:p>
                      <a:r>
                        <a:rPr lang="en-US" smtClean="0"/>
                        <a:t>Tinggi</a:t>
                      </a:r>
                      <a:endParaRPr lang="en-US"/>
                    </a:p>
                  </a:txBody>
                  <a:tcPr/>
                </a:tc>
                <a:tc>
                  <a:txBody>
                    <a:bodyPr/>
                    <a:lstStyle/>
                    <a:p>
                      <a:r>
                        <a:rPr lang="en-US" smtClean="0"/>
                        <a:t>Pelan</a:t>
                      </a:r>
                      <a:endParaRPr lang="en-US"/>
                    </a:p>
                  </a:txBody>
                  <a:tcPr/>
                </a:tc>
                <a:tc>
                  <a:txBody>
                    <a:bodyPr/>
                    <a:lstStyle/>
                    <a:p>
                      <a:r>
                        <a:rPr lang="en-US" smtClean="0"/>
                        <a:t>Tidak</a:t>
                      </a:r>
                      <a:endParaRPr lang="en-US"/>
                    </a:p>
                  </a:txBody>
                  <a:tcPr/>
                </a:tc>
              </a:tr>
              <a:tr h="370840">
                <a:tc>
                  <a:txBody>
                    <a:bodyPr/>
                    <a:lstStyle/>
                    <a:p>
                      <a:r>
                        <a:rPr lang="en-US" smtClean="0"/>
                        <a:t>5</a:t>
                      </a:r>
                      <a:endParaRPr lang="en-US"/>
                    </a:p>
                  </a:txBody>
                  <a:tcPr/>
                </a:tc>
                <a:tc>
                  <a:txBody>
                    <a:bodyPr/>
                    <a:lstStyle/>
                    <a:p>
                      <a:r>
                        <a:rPr lang="en-US" smtClean="0"/>
                        <a:t>Hujan</a:t>
                      </a:r>
                      <a:endParaRPr lang="en-US"/>
                    </a:p>
                  </a:txBody>
                  <a:tcPr/>
                </a:tc>
                <a:tc>
                  <a:txBody>
                    <a:bodyPr/>
                    <a:lstStyle/>
                    <a:p>
                      <a:r>
                        <a:rPr lang="en-US" smtClean="0"/>
                        <a:t>Tinggi</a:t>
                      </a:r>
                      <a:endParaRPr lang="en-US"/>
                    </a:p>
                  </a:txBody>
                  <a:tcPr/>
                </a:tc>
                <a:tc>
                  <a:txBody>
                    <a:bodyPr/>
                    <a:lstStyle/>
                    <a:p>
                      <a:r>
                        <a:rPr lang="en-US" smtClean="0"/>
                        <a:t>Kencang</a:t>
                      </a:r>
                      <a:endParaRPr lang="en-US"/>
                    </a:p>
                  </a:txBody>
                  <a:tcPr/>
                </a:tc>
                <a:tc>
                  <a:txBody>
                    <a:bodyPr/>
                    <a:lstStyle/>
                    <a:p>
                      <a:r>
                        <a:rPr lang="en-US" smtClean="0"/>
                        <a:t>Tidak</a:t>
                      </a:r>
                      <a:endParaRPr lang="en-US"/>
                    </a:p>
                  </a:txBody>
                  <a:tcPr/>
                </a:tc>
              </a:tr>
            </a:tbl>
          </a:graphicData>
        </a:graphic>
      </p:graphicFrame>
      <p:sp>
        <p:nvSpPr>
          <p:cNvPr id="5" name="TextBox 4"/>
          <p:cNvSpPr txBox="1"/>
          <p:nvPr/>
        </p:nvSpPr>
        <p:spPr>
          <a:xfrm>
            <a:off x="609600" y="2971800"/>
            <a:ext cx="7696200" cy="646331"/>
          </a:xfrm>
          <a:prstGeom prst="rect">
            <a:avLst/>
          </a:prstGeom>
          <a:noFill/>
        </p:spPr>
        <p:txBody>
          <a:bodyPr wrap="square" rtlCol="0">
            <a:spAutoFit/>
          </a:bodyPr>
          <a:lstStyle/>
          <a:p>
            <a:r>
              <a:rPr lang="en-US" smtClean="0"/>
              <a:t>Attribut </a:t>
            </a:r>
            <a:r>
              <a:rPr lang="en-US" smtClean="0">
                <a:solidFill>
                  <a:srgbClr val="FF0000"/>
                </a:solidFill>
              </a:rPr>
              <a:t>cuaca</a:t>
            </a:r>
            <a:r>
              <a:rPr lang="en-US" smtClean="0"/>
              <a:t> dan </a:t>
            </a:r>
            <a:r>
              <a:rPr lang="en-US" smtClean="0">
                <a:solidFill>
                  <a:srgbClr val="FF0000"/>
                </a:solidFill>
              </a:rPr>
              <a:t>temperatur </a:t>
            </a:r>
            <a:r>
              <a:rPr lang="en-US" smtClean="0"/>
              <a:t>mempunyai </a:t>
            </a:r>
            <a:r>
              <a:rPr lang="en-US" smtClean="0">
                <a:solidFill>
                  <a:srgbClr val="FF0000"/>
                </a:solidFill>
              </a:rPr>
              <a:t>nilai yang sama </a:t>
            </a:r>
            <a:r>
              <a:rPr lang="en-US" smtClean="0"/>
              <a:t>dalam satu keputusan (berolah-raga), maka data ini adalah data yang konsisten</a:t>
            </a:r>
            <a:endParaRPr lang="en-US"/>
          </a:p>
        </p:txBody>
      </p:sp>
      <p:graphicFrame>
        <p:nvGraphicFramePr>
          <p:cNvPr id="7" name="Content Placeholder 3"/>
          <p:cNvGraphicFramePr>
            <a:graphicFrameLocks/>
          </p:cNvGraphicFramePr>
          <p:nvPr>
            <p:extLst>
              <p:ext uri="{D42A27DB-BD31-4B8C-83A1-F6EECF244321}">
                <p14:modId xmlns:p14="http://schemas.microsoft.com/office/powerpoint/2010/main" val="1049701939"/>
              </p:ext>
            </p:extLst>
          </p:nvPr>
        </p:nvGraphicFramePr>
        <p:xfrm>
          <a:off x="609600" y="3886200"/>
          <a:ext cx="8229600" cy="1849120"/>
        </p:xfrm>
        <a:graphic>
          <a:graphicData uri="http://schemas.openxmlformats.org/drawingml/2006/table">
            <a:tbl>
              <a:tblPr firstRow="1" bandRow="1">
                <a:tableStyleId>{5C22544A-7EE6-4342-B048-85BDC9FD1C3A}</a:tableStyleId>
              </a:tblPr>
              <a:tblGrid>
                <a:gridCol w="533400"/>
                <a:gridCol w="1600200"/>
                <a:gridCol w="1828800"/>
                <a:gridCol w="2621280"/>
                <a:gridCol w="1645920"/>
              </a:tblGrid>
              <a:tr h="137160">
                <a:tc>
                  <a:txBody>
                    <a:bodyPr/>
                    <a:lstStyle/>
                    <a:p>
                      <a:r>
                        <a:rPr lang="en-US" dirty="0" smtClean="0"/>
                        <a:t>#</a:t>
                      </a:r>
                      <a:endParaRPr lang="en-US" dirty="0"/>
                    </a:p>
                  </a:txBody>
                  <a:tcPr/>
                </a:tc>
                <a:tc>
                  <a:txBody>
                    <a:bodyPr/>
                    <a:lstStyle/>
                    <a:p>
                      <a:r>
                        <a:rPr lang="en-US" smtClean="0"/>
                        <a:t>Cuaca</a:t>
                      </a:r>
                      <a:endParaRPr lang="en-US"/>
                    </a:p>
                  </a:txBody>
                  <a:tcPr/>
                </a:tc>
                <a:tc>
                  <a:txBody>
                    <a:bodyPr/>
                    <a:lstStyle/>
                    <a:p>
                      <a:r>
                        <a:rPr lang="en-US" smtClean="0"/>
                        <a:t>Temperatur</a:t>
                      </a:r>
                      <a:endParaRPr lang="en-US"/>
                    </a:p>
                  </a:txBody>
                  <a:tcPr/>
                </a:tc>
                <a:tc>
                  <a:txBody>
                    <a:bodyPr/>
                    <a:lstStyle/>
                    <a:p>
                      <a:r>
                        <a:rPr lang="en-US" smtClean="0"/>
                        <a:t>Kecepatan Angin</a:t>
                      </a:r>
                      <a:endParaRPr lang="en-US"/>
                    </a:p>
                  </a:txBody>
                  <a:tcPr/>
                </a:tc>
                <a:tc>
                  <a:txBody>
                    <a:bodyPr/>
                    <a:lstStyle/>
                    <a:p>
                      <a:r>
                        <a:rPr lang="en-US" smtClean="0"/>
                        <a:t>Berolah Raga</a:t>
                      </a:r>
                      <a:endParaRPr lang="en-US"/>
                    </a:p>
                  </a:txBody>
                  <a:tcPr/>
                </a:tc>
              </a:tr>
              <a:tr h="370840">
                <a:tc>
                  <a:txBody>
                    <a:bodyPr/>
                    <a:lstStyle/>
                    <a:p>
                      <a:r>
                        <a:rPr lang="en-US" smtClean="0"/>
                        <a:t>1</a:t>
                      </a:r>
                      <a:endParaRPr lang="en-US"/>
                    </a:p>
                  </a:txBody>
                  <a:tcPr/>
                </a:tc>
                <a:tc>
                  <a:txBody>
                    <a:bodyPr/>
                    <a:lstStyle/>
                    <a:p>
                      <a:r>
                        <a:rPr lang="en-US" smtClean="0"/>
                        <a:t>Cerah</a:t>
                      </a:r>
                      <a:endParaRPr lang="en-US"/>
                    </a:p>
                  </a:txBody>
                  <a:tcPr/>
                </a:tc>
                <a:tc>
                  <a:txBody>
                    <a:bodyPr/>
                    <a:lstStyle/>
                    <a:p>
                      <a:r>
                        <a:rPr lang="en-US" smtClean="0"/>
                        <a:t>Normal</a:t>
                      </a:r>
                      <a:endParaRPr lang="en-US"/>
                    </a:p>
                  </a:txBody>
                  <a:tcPr/>
                </a:tc>
                <a:tc>
                  <a:txBody>
                    <a:bodyPr/>
                    <a:lstStyle/>
                    <a:p>
                      <a:r>
                        <a:rPr lang="en-US" smtClean="0"/>
                        <a:t>Pelan</a:t>
                      </a:r>
                      <a:endParaRPr lang="en-US"/>
                    </a:p>
                  </a:txBody>
                  <a:tcPr/>
                </a:tc>
                <a:tc>
                  <a:txBody>
                    <a:bodyPr/>
                    <a:lstStyle/>
                    <a:p>
                      <a:r>
                        <a:rPr lang="en-US" smtClean="0"/>
                        <a:t>Ya</a:t>
                      </a:r>
                      <a:endParaRPr lang="en-US"/>
                    </a:p>
                  </a:txBody>
                  <a:tcPr/>
                </a:tc>
              </a:tr>
              <a:tr h="370840">
                <a:tc>
                  <a:txBody>
                    <a:bodyPr/>
                    <a:lstStyle/>
                    <a:p>
                      <a:r>
                        <a:rPr lang="en-US" smtClean="0"/>
                        <a:t>2</a:t>
                      </a:r>
                      <a:endParaRPr lang="en-US"/>
                    </a:p>
                  </a:txBody>
                  <a:tcPr/>
                </a:tc>
                <a:tc>
                  <a:txBody>
                    <a:bodyPr/>
                    <a:lstStyle/>
                    <a:p>
                      <a:r>
                        <a:rPr lang="en-US" smtClean="0"/>
                        <a:t>Cerah</a:t>
                      </a:r>
                      <a:endParaRPr lang="en-US"/>
                    </a:p>
                  </a:txBody>
                  <a:tcPr/>
                </a:tc>
                <a:tc>
                  <a:txBody>
                    <a:bodyPr/>
                    <a:lstStyle/>
                    <a:p>
                      <a:r>
                        <a:rPr lang="en-US" smtClean="0"/>
                        <a:t>Normal</a:t>
                      </a:r>
                      <a:endParaRPr lang="en-US"/>
                    </a:p>
                  </a:txBody>
                  <a:tcPr/>
                </a:tc>
                <a:tc>
                  <a:txBody>
                    <a:bodyPr/>
                    <a:lstStyle/>
                    <a:p>
                      <a:r>
                        <a:rPr lang="en-US" smtClean="0"/>
                        <a:t>Pelan</a:t>
                      </a:r>
                      <a:endParaRPr lang="en-US"/>
                    </a:p>
                  </a:txBody>
                  <a:tcPr/>
                </a:tc>
                <a:tc>
                  <a:txBody>
                    <a:bodyPr/>
                    <a:lstStyle/>
                    <a:p>
                      <a:r>
                        <a:rPr lang="en-US" smtClean="0"/>
                        <a:t>Ya</a:t>
                      </a:r>
                      <a:endParaRPr lang="en-US"/>
                    </a:p>
                  </a:txBody>
                  <a:tcPr/>
                </a:tc>
              </a:tr>
              <a:tr h="370840">
                <a:tc>
                  <a:txBody>
                    <a:bodyPr/>
                    <a:lstStyle/>
                    <a:p>
                      <a:r>
                        <a:rPr lang="en-US" smtClean="0"/>
                        <a:t>4</a:t>
                      </a:r>
                      <a:endParaRPr lang="en-US"/>
                    </a:p>
                  </a:txBody>
                  <a:tcPr/>
                </a:tc>
                <a:tc>
                  <a:txBody>
                    <a:bodyPr/>
                    <a:lstStyle/>
                    <a:p>
                      <a:r>
                        <a:rPr lang="en-US" smtClean="0"/>
                        <a:t>Hujan</a:t>
                      </a:r>
                      <a:endParaRPr lang="en-US"/>
                    </a:p>
                  </a:txBody>
                  <a:tcPr/>
                </a:tc>
                <a:tc>
                  <a:txBody>
                    <a:bodyPr/>
                    <a:lstStyle/>
                    <a:p>
                      <a:r>
                        <a:rPr lang="en-US" dirty="0" err="1" smtClean="0"/>
                        <a:t>Tinggi</a:t>
                      </a:r>
                      <a:endParaRPr lang="en-US" dirty="0"/>
                    </a:p>
                  </a:txBody>
                  <a:tcPr/>
                </a:tc>
                <a:tc>
                  <a:txBody>
                    <a:bodyPr/>
                    <a:lstStyle/>
                    <a:p>
                      <a:r>
                        <a:rPr lang="en-US" smtClean="0"/>
                        <a:t>Kencang</a:t>
                      </a:r>
                      <a:endParaRPr lang="en-US"/>
                    </a:p>
                  </a:txBody>
                  <a:tcPr/>
                </a:tc>
                <a:tc>
                  <a:txBody>
                    <a:bodyPr/>
                    <a:lstStyle/>
                    <a:p>
                      <a:r>
                        <a:rPr lang="en-US" smtClean="0"/>
                        <a:t>Ya</a:t>
                      </a:r>
                      <a:endParaRPr lang="en-US"/>
                    </a:p>
                  </a:txBody>
                  <a:tcPr/>
                </a:tc>
              </a:tr>
              <a:tr h="370840">
                <a:tc>
                  <a:txBody>
                    <a:bodyPr/>
                    <a:lstStyle/>
                    <a:p>
                      <a:r>
                        <a:rPr lang="en-US" smtClean="0"/>
                        <a:t>6</a:t>
                      </a:r>
                      <a:endParaRPr lang="en-US"/>
                    </a:p>
                  </a:txBody>
                  <a:tcPr/>
                </a:tc>
                <a:tc>
                  <a:txBody>
                    <a:bodyPr/>
                    <a:lstStyle/>
                    <a:p>
                      <a:r>
                        <a:rPr lang="en-US" smtClean="0"/>
                        <a:t>Cerah</a:t>
                      </a:r>
                      <a:endParaRPr lang="en-US"/>
                    </a:p>
                  </a:txBody>
                  <a:tcPr/>
                </a:tc>
                <a:tc>
                  <a:txBody>
                    <a:bodyPr/>
                    <a:lstStyle/>
                    <a:p>
                      <a:r>
                        <a:rPr lang="en-US" dirty="0" smtClean="0"/>
                        <a:t>Normal</a:t>
                      </a:r>
                      <a:endParaRPr lang="en-US" dirty="0"/>
                    </a:p>
                  </a:txBody>
                  <a:tcPr/>
                </a:tc>
                <a:tc>
                  <a:txBody>
                    <a:bodyPr/>
                    <a:lstStyle/>
                    <a:p>
                      <a:r>
                        <a:rPr lang="en-US" smtClean="0"/>
                        <a:t>Pelan</a:t>
                      </a:r>
                      <a:endParaRPr lang="en-US"/>
                    </a:p>
                  </a:txBody>
                  <a:tcPr/>
                </a:tc>
                <a:tc>
                  <a:txBody>
                    <a:bodyPr/>
                    <a:lstStyle/>
                    <a:p>
                      <a:r>
                        <a:rPr lang="en-US" smtClean="0"/>
                        <a:t>Ya</a:t>
                      </a:r>
                      <a:endParaRPr lang="en-US"/>
                    </a:p>
                  </a:txBody>
                  <a:tcPr/>
                </a:tc>
              </a:tr>
            </a:tbl>
          </a:graphicData>
        </a:graphic>
      </p:graphicFrame>
      <p:sp>
        <p:nvSpPr>
          <p:cNvPr id="6" name="TextBox 5"/>
          <p:cNvSpPr txBox="1"/>
          <p:nvPr/>
        </p:nvSpPr>
        <p:spPr>
          <a:xfrm>
            <a:off x="838200" y="5904131"/>
            <a:ext cx="7110412" cy="646331"/>
          </a:xfrm>
          <a:prstGeom prst="rect">
            <a:avLst/>
          </a:prstGeom>
          <a:noFill/>
        </p:spPr>
        <p:txBody>
          <a:bodyPr wrap="square" rtlCol="0">
            <a:spAutoFit/>
          </a:bodyPr>
          <a:lstStyle/>
          <a:p>
            <a:r>
              <a:rPr lang="en-US" smtClean="0">
                <a:solidFill>
                  <a:srgbClr val="FF0000"/>
                </a:solidFill>
              </a:rPr>
              <a:t>Tidak satupun attribut yang mempunyai nilai yang sama </a:t>
            </a:r>
            <a:r>
              <a:rPr lang="en-US" smtClean="0"/>
              <a:t>dalam satu keputusan (berolah-raga), maka data ini adalah data yang tidak konsisten</a:t>
            </a:r>
            <a:endParaRPr lang="en-US"/>
          </a:p>
        </p:txBody>
      </p:sp>
    </p:spTree>
    <p:extLst>
      <p:ext uri="{BB962C8B-B14F-4D97-AF65-F5344CB8AC3E}">
        <p14:creationId xmlns:p14="http://schemas.microsoft.com/office/powerpoint/2010/main" val="404772832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Data BIAS</a:t>
            </a:r>
            <a:endParaRPr lang="en-US"/>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297944626"/>
              </p:ext>
            </p:extLst>
          </p:nvPr>
        </p:nvGraphicFramePr>
        <p:xfrm>
          <a:off x="457200" y="1600200"/>
          <a:ext cx="8229600" cy="1854200"/>
        </p:xfrm>
        <a:graphic>
          <a:graphicData uri="http://schemas.openxmlformats.org/drawingml/2006/table">
            <a:tbl>
              <a:tblPr firstRow="1" bandRow="1">
                <a:tableStyleId>{5C22544A-7EE6-4342-B048-85BDC9FD1C3A}</a:tableStyleId>
              </a:tblPr>
              <a:tblGrid>
                <a:gridCol w="609600"/>
                <a:gridCol w="1524000"/>
                <a:gridCol w="1905000"/>
                <a:gridCol w="2545080"/>
                <a:gridCol w="1645920"/>
              </a:tblGrid>
              <a:tr h="370840">
                <a:tc>
                  <a:txBody>
                    <a:bodyPr/>
                    <a:lstStyle/>
                    <a:p>
                      <a:r>
                        <a:rPr lang="en-US" smtClean="0"/>
                        <a:t>#</a:t>
                      </a:r>
                      <a:endParaRPr lang="en-US"/>
                    </a:p>
                  </a:txBody>
                  <a:tcPr/>
                </a:tc>
                <a:tc>
                  <a:txBody>
                    <a:bodyPr/>
                    <a:lstStyle/>
                    <a:p>
                      <a:r>
                        <a:rPr lang="en-US" smtClean="0"/>
                        <a:t>Cuaca</a:t>
                      </a:r>
                      <a:endParaRPr lang="en-US"/>
                    </a:p>
                  </a:txBody>
                  <a:tcPr/>
                </a:tc>
                <a:tc>
                  <a:txBody>
                    <a:bodyPr/>
                    <a:lstStyle/>
                    <a:p>
                      <a:r>
                        <a:rPr lang="en-US" smtClean="0"/>
                        <a:t>Temperatur</a:t>
                      </a:r>
                      <a:endParaRPr lang="en-US"/>
                    </a:p>
                  </a:txBody>
                  <a:tcPr/>
                </a:tc>
                <a:tc>
                  <a:txBody>
                    <a:bodyPr/>
                    <a:lstStyle/>
                    <a:p>
                      <a:r>
                        <a:rPr lang="en-US" smtClean="0"/>
                        <a:t>Kecepatan</a:t>
                      </a:r>
                      <a:r>
                        <a:rPr lang="en-US" baseline="0" smtClean="0"/>
                        <a:t> Angin</a:t>
                      </a:r>
                      <a:endParaRPr lang="en-US"/>
                    </a:p>
                  </a:txBody>
                  <a:tcPr/>
                </a:tc>
                <a:tc>
                  <a:txBody>
                    <a:bodyPr/>
                    <a:lstStyle/>
                    <a:p>
                      <a:r>
                        <a:rPr lang="en-US" smtClean="0"/>
                        <a:t>Berolah-Raga</a:t>
                      </a:r>
                      <a:endParaRPr lang="en-US"/>
                    </a:p>
                  </a:txBody>
                  <a:tcPr/>
                </a:tc>
              </a:tr>
              <a:tr h="370840">
                <a:tc>
                  <a:txBody>
                    <a:bodyPr/>
                    <a:lstStyle/>
                    <a:p>
                      <a:r>
                        <a:rPr lang="en-US" smtClean="0"/>
                        <a:t>1</a:t>
                      </a:r>
                      <a:endParaRPr lang="en-US"/>
                    </a:p>
                  </a:txBody>
                  <a:tcPr/>
                </a:tc>
                <a:tc>
                  <a:txBody>
                    <a:bodyPr/>
                    <a:lstStyle/>
                    <a:p>
                      <a:r>
                        <a:rPr lang="en-US" smtClean="0"/>
                        <a:t>Cerah</a:t>
                      </a:r>
                      <a:endParaRPr lang="en-US"/>
                    </a:p>
                  </a:txBody>
                  <a:tcPr/>
                </a:tc>
                <a:tc>
                  <a:txBody>
                    <a:bodyPr/>
                    <a:lstStyle/>
                    <a:p>
                      <a:r>
                        <a:rPr lang="en-US" smtClean="0"/>
                        <a:t>Normal</a:t>
                      </a:r>
                      <a:endParaRPr lang="en-US"/>
                    </a:p>
                  </a:txBody>
                  <a:tcPr/>
                </a:tc>
                <a:tc>
                  <a:txBody>
                    <a:bodyPr/>
                    <a:lstStyle/>
                    <a:p>
                      <a:r>
                        <a:rPr lang="en-US" smtClean="0"/>
                        <a:t>Pelan</a:t>
                      </a:r>
                      <a:endParaRPr lang="en-US"/>
                    </a:p>
                  </a:txBody>
                  <a:tcPr/>
                </a:tc>
                <a:tc>
                  <a:txBody>
                    <a:bodyPr/>
                    <a:lstStyle/>
                    <a:p>
                      <a:r>
                        <a:rPr lang="en-US" smtClean="0"/>
                        <a:t>Ya</a:t>
                      </a:r>
                      <a:endParaRPr lang="en-US"/>
                    </a:p>
                  </a:txBody>
                  <a:tcPr/>
                </a:tc>
              </a:tr>
              <a:tr h="370840">
                <a:tc>
                  <a:txBody>
                    <a:bodyPr/>
                    <a:lstStyle/>
                    <a:p>
                      <a:r>
                        <a:rPr lang="en-US" smtClean="0"/>
                        <a:t>2</a:t>
                      </a:r>
                      <a:endParaRPr lang="en-US"/>
                    </a:p>
                  </a:txBody>
                  <a:tcPr/>
                </a:tc>
                <a:tc>
                  <a:txBody>
                    <a:bodyPr/>
                    <a:lstStyle/>
                    <a:p>
                      <a:r>
                        <a:rPr lang="en-US" smtClean="0"/>
                        <a:t>Cerah</a:t>
                      </a:r>
                      <a:endParaRPr lang="en-US"/>
                    </a:p>
                  </a:txBody>
                  <a:tcPr/>
                </a:tc>
                <a:tc>
                  <a:txBody>
                    <a:bodyPr/>
                    <a:lstStyle/>
                    <a:p>
                      <a:r>
                        <a:rPr lang="en-US" smtClean="0"/>
                        <a:t>Normal</a:t>
                      </a:r>
                      <a:endParaRPr lang="en-US"/>
                    </a:p>
                  </a:txBody>
                  <a:tcPr/>
                </a:tc>
                <a:tc>
                  <a:txBody>
                    <a:bodyPr/>
                    <a:lstStyle/>
                    <a:p>
                      <a:r>
                        <a:rPr lang="en-US" smtClean="0"/>
                        <a:t>Pelan</a:t>
                      </a:r>
                      <a:endParaRPr lang="en-US"/>
                    </a:p>
                  </a:txBody>
                  <a:tcPr/>
                </a:tc>
                <a:tc>
                  <a:txBody>
                    <a:bodyPr/>
                    <a:lstStyle/>
                    <a:p>
                      <a:r>
                        <a:rPr lang="en-US" smtClean="0"/>
                        <a:t>Ya</a:t>
                      </a:r>
                      <a:endParaRPr lang="en-US"/>
                    </a:p>
                  </a:txBody>
                  <a:tcPr/>
                </a:tc>
              </a:tr>
              <a:tr h="370840">
                <a:tc>
                  <a:txBody>
                    <a:bodyPr/>
                    <a:lstStyle/>
                    <a:p>
                      <a:r>
                        <a:rPr lang="en-US" smtClean="0"/>
                        <a:t>3</a:t>
                      </a:r>
                      <a:endParaRPr lang="en-US"/>
                    </a:p>
                  </a:txBody>
                  <a:tcPr/>
                </a:tc>
                <a:tc>
                  <a:txBody>
                    <a:bodyPr/>
                    <a:lstStyle/>
                    <a:p>
                      <a:r>
                        <a:rPr lang="en-US" smtClean="0"/>
                        <a:t>Hujan</a:t>
                      </a:r>
                      <a:endParaRPr lang="en-US"/>
                    </a:p>
                  </a:txBody>
                  <a:tcPr/>
                </a:tc>
                <a:tc>
                  <a:txBody>
                    <a:bodyPr/>
                    <a:lstStyle/>
                    <a:p>
                      <a:r>
                        <a:rPr lang="en-US" smtClean="0"/>
                        <a:t>Normal</a:t>
                      </a:r>
                      <a:endParaRPr lang="en-US"/>
                    </a:p>
                  </a:txBody>
                  <a:tcPr/>
                </a:tc>
                <a:tc>
                  <a:txBody>
                    <a:bodyPr/>
                    <a:lstStyle/>
                    <a:p>
                      <a:r>
                        <a:rPr lang="en-US" smtClean="0"/>
                        <a:t>Pelan</a:t>
                      </a:r>
                      <a:endParaRPr lang="en-US"/>
                    </a:p>
                  </a:txBody>
                  <a:tcPr/>
                </a:tc>
                <a:tc>
                  <a:txBody>
                    <a:bodyPr/>
                    <a:lstStyle/>
                    <a:p>
                      <a:r>
                        <a:rPr lang="en-US" smtClean="0"/>
                        <a:t>Ya</a:t>
                      </a:r>
                      <a:endParaRPr lang="en-US"/>
                    </a:p>
                  </a:txBody>
                  <a:tcPr/>
                </a:tc>
              </a:tr>
              <a:tr h="370840">
                <a:tc>
                  <a:txBody>
                    <a:bodyPr/>
                    <a:lstStyle/>
                    <a:p>
                      <a:r>
                        <a:rPr lang="en-US" smtClean="0"/>
                        <a:t>4</a:t>
                      </a:r>
                      <a:endParaRPr lang="en-US"/>
                    </a:p>
                  </a:txBody>
                  <a:tcPr/>
                </a:tc>
                <a:tc>
                  <a:txBody>
                    <a:bodyPr/>
                    <a:lstStyle/>
                    <a:p>
                      <a:r>
                        <a:rPr lang="en-US" smtClean="0"/>
                        <a:t>Cerah</a:t>
                      </a:r>
                      <a:endParaRPr lang="en-US"/>
                    </a:p>
                  </a:txBody>
                  <a:tcPr/>
                </a:tc>
                <a:tc>
                  <a:txBody>
                    <a:bodyPr/>
                    <a:lstStyle/>
                    <a:p>
                      <a:r>
                        <a:rPr lang="en-US" smtClean="0"/>
                        <a:t>Normal</a:t>
                      </a:r>
                      <a:endParaRPr lang="en-US"/>
                    </a:p>
                  </a:txBody>
                  <a:tcPr/>
                </a:tc>
                <a:tc>
                  <a:txBody>
                    <a:bodyPr/>
                    <a:lstStyle/>
                    <a:p>
                      <a:r>
                        <a:rPr lang="en-US" smtClean="0"/>
                        <a:t>Pelan</a:t>
                      </a:r>
                      <a:endParaRPr lang="en-US"/>
                    </a:p>
                  </a:txBody>
                  <a:tcPr/>
                </a:tc>
                <a:tc>
                  <a:txBody>
                    <a:bodyPr/>
                    <a:lstStyle/>
                    <a:p>
                      <a:r>
                        <a:rPr lang="en-US" smtClean="0"/>
                        <a:t>Tidak</a:t>
                      </a:r>
                      <a:endParaRPr lang="en-US"/>
                    </a:p>
                  </a:txBody>
                  <a:tcPr/>
                </a:tc>
              </a:tr>
            </a:tbl>
          </a:graphicData>
        </a:graphic>
      </p:graphicFrame>
      <p:sp>
        <p:nvSpPr>
          <p:cNvPr id="5" name="TextBox 4"/>
          <p:cNvSpPr txBox="1"/>
          <p:nvPr/>
        </p:nvSpPr>
        <p:spPr>
          <a:xfrm>
            <a:off x="838200" y="4038600"/>
            <a:ext cx="7086600" cy="1569660"/>
          </a:xfrm>
          <a:prstGeom prst="rect">
            <a:avLst/>
          </a:prstGeom>
          <a:noFill/>
        </p:spPr>
        <p:txBody>
          <a:bodyPr wrap="square" rtlCol="0">
            <a:spAutoFit/>
          </a:bodyPr>
          <a:lstStyle/>
          <a:p>
            <a:r>
              <a:rPr lang="en-US" sz="2400" smtClean="0"/>
              <a:t>Perhatikan data ke 4, data ini mempunyai keputusan yang berbeda dengan data 1 dan data 2, tetapi instance pada semua attributnya sama , sehingga data ini disebut dengan data bias</a:t>
            </a:r>
            <a:endParaRPr lang="en-US" sz="2400"/>
          </a:p>
        </p:txBody>
      </p:sp>
    </p:spTree>
    <p:extLst>
      <p:ext uri="{BB962C8B-B14F-4D97-AF65-F5344CB8AC3E}">
        <p14:creationId xmlns:p14="http://schemas.microsoft.com/office/powerpoint/2010/main" val="185611330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p:spPr>
        <p:txBody>
          <a:bodyPr/>
          <a:lstStyle/>
          <a:p>
            <a:r>
              <a:rPr lang="en-US" smtClean="0"/>
              <a:t>HIPOTESA</a:t>
            </a:r>
            <a:endParaRPr lang="en-US"/>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57200" y="1143000"/>
                <a:ext cx="8229600" cy="4983163"/>
              </a:xfrm>
            </p:spPr>
            <p:txBody>
              <a:bodyPr/>
              <a:lstStyle/>
              <a:p>
                <a:r>
                  <a:rPr lang="en-US" smtClean="0"/>
                  <a:t>Hipotesa ditulis dengan:</a:t>
                </a:r>
              </a:p>
              <a:p>
                <a:pPr marL="0" indent="0">
                  <a:buNone/>
                </a:pPr>
                <a14:m>
                  <m:oMath xmlns:m="http://schemas.openxmlformats.org/officeDocument/2006/math">
                    <m:r>
                      <a:rPr lang="en-US" sz="2800" b="1" i="1" smtClean="0">
                        <a:latin typeface="Cambria Math"/>
                      </a:rPr>
                      <m:t>𝑯</m:t>
                    </m:r>
                    <m:r>
                      <a:rPr lang="en-US" sz="2800" b="1" i="1" smtClean="0">
                        <a:latin typeface="Cambria Math"/>
                      </a:rPr>
                      <m:t>(</m:t>
                    </m:r>
                    <m:sSub>
                      <m:sSubPr>
                        <m:ctrlPr>
                          <a:rPr lang="en-US" sz="2800" b="1" i="1" smtClean="0">
                            <a:latin typeface="Cambria Math"/>
                          </a:rPr>
                        </m:ctrlPr>
                      </m:sSubPr>
                      <m:e>
                        <m:r>
                          <a:rPr lang="en-US" sz="2800" b="1" i="1" smtClean="0">
                            <a:latin typeface="Cambria Math"/>
                          </a:rPr>
                          <m:t>𝒂𝒕𝒕𝒓𝒊𝒃𝒖𝒕</m:t>
                        </m:r>
                      </m:e>
                      <m:sub>
                        <m:r>
                          <a:rPr lang="en-US" sz="2800" b="1" i="1" smtClean="0">
                            <a:latin typeface="Cambria Math"/>
                          </a:rPr>
                          <m:t>𝟏</m:t>
                        </m:r>
                      </m:sub>
                    </m:sSub>
                  </m:oMath>
                </a14:m>
                <a:r>
                  <a:rPr lang="en-US" sz="2800" b="1" smtClean="0"/>
                  <a:t>,</a:t>
                </a:r>
                <a14:m>
                  <m:oMath xmlns:m="http://schemas.openxmlformats.org/officeDocument/2006/math">
                    <m:sSub>
                      <m:sSubPr>
                        <m:ctrlPr>
                          <a:rPr lang="en-US" sz="2800" b="1" i="1" smtClean="0">
                            <a:latin typeface="Cambria Math"/>
                          </a:rPr>
                        </m:ctrlPr>
                      </m:sSubPr>
                      <m:e>
                        <m:r>
                          <a:rPr lang="en-US" sz="2800" b="1" i="1" smtClean="0">
                            <a:latin typeface="Cambria Math"/>
                          </a:rPr>
                          <m:t>𝒂𝒕𝒕𝒓𝒊𝒃𝒖𝒕</m:t>
                        </m:r>
                      </m:e>
                      <m:sub>
                        <m:r>
                          <a:rPr lang="en-US" sz="2800" b="1" i="1" smtClean="0">
                            <a:latin typeface="Cambria Math"/>
                          </a:rPr>
                          <m:t>𝟐</m:t>
                        </m:r>
                      </m:sub>
                    </m:sSub>
                  </m:oMath>
                </a14:m>
                <a:r>
                  <a:rPr lang="en-US" sz="2800" b="1" smtClean="0"/>
                  <a:t>, …..</a:t>
                </a:r>
                <a14:m>
                  <m:oMath xmlns:m="http://schemas.openxmlformats.org/officeDocument/2006/math">
                    <m:sSub>
                      <m:sSubPr>
                        <m:ctrlPr>
                          <a:rPr lang="en-US" sz="2800" b="1" i="1" smtClean="0">
                            <a:latin typeface="Cambria Math"/>
                          </a:rPr>
                        </m:ctrlPr>
                      </m:sSubPr>
                      <m:e>
                        <m:r>
                          <a:rPr lang="en-US" sz="2800" b="1" i="1" smtClean="0">
                            <a:latin typeface="Cambria Math"/>
                          </a:rPr>
                          <m:t>𝒂𝒕𝒕𝒓𝒊𝒃𝒖𝒕</m:t>
                        </m:r>
                      </m:e>
                      <m:sub>
                        <m:r>
                          <a:rPr lang="en-US" sz="2800" b="1" i="1" smtClean="0">
                            <a:latin typeface="Cambria Math"/>
                          </a:rPr>
                          <m:t>𝒏</m:t>
                        </m:r>
                      </m:sub>
                    </m:sSub>
                  </m:oMath>
                </a14:m>
                <a:r>
                  <a:rPr lang="en-US" sz="2800" b="1" smtClean="0"/>
                  <a:t>)= keputusan</a:t>
                </a:r>
                <a:endParaRPr lang="en-US" sz="2800" b="1"/>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457200" y="1143000"/>
                <a:ext cx="8229600" cy="4983163"/>
              </a:xfrm>
              <a:blipFill rotWithShape="1">
                <a:blip r:embed="rId2"/>
                <a:stretch>
                  <a:fillRect l="-1630" t="-1591"/>
                </a:stretch>
              </a:blipFill>
            </p:spPr>
            <p:txBody>
              <a:bodyPr/>
              <a:lstStyle/>
              <a:p>
                <a:r>
                  <a:rPr lang="en-US">
                    <a:noFill/>
                  </a:rPr>
                  <a:t> </a:t>
                </a:r>
              </a:p>
            </p:txBody>
          </p:sp>
        </mc:Fallback>
      </mc:AlternateContent>
      <p:sp>
        <p:nvSpPr>
          <p:cNvPr id="4" name="TextBox 3"/>
          <p:cNvSpPr txBox="1"/>
          <p:nvPr/>
        </p:nvSpPr>
        <p:spPr>
          <a:xfrm>
            <a:off x="560696" y="2286000"/>
            <a:ext cx="8229600" cy="1538883"/>
          </a:xfrm>
          <a:prstGeom prst="rect">
            <a:avLst/>
          </a:prstGeom>
          <a:noFill/>
          <a:ln>
            <a:solidFill>
              <a:schemeClr val="accent1"/>
            </a:solidFill>
          </a:ln>
        </p:spPr>
        <p:txBody>
          <a:bodyPr wrap="square" rtlCol="0">
            <a:spAutoFit/>
          </a:bodyPr>
          <a:lstStyle/>
          <a:p>
            <a:r>
              <a:rPr lang="en-US" sz="2000" b="1" u="sng" smtClean="0"/>
              <a:t>H(cuaca=cerah, temperatur=normal, kec.angin=pelan)=ya</a:t>
            </a:r>
          </a:p>
          <a:p>
            <a:r>
              <a:rPr lang="en-US" smtClean="0"/>
              <a:t>Hipotesa ini menunjukkan bahwa keputusan untuk berolahraga bila cuaca=cerah, temperatur=normal dan kec.angin=pelan, untuk singkatnya ditulisa hanya instance pada setiap attribut dengan </a:t>
            </a:r>
          </a:p>
          <a:p>
            <a:r>
              <a:rPr lang="en-US" sz="2000" b="1" smtClean="0"/>
              <a:t>H(cerah,normal, pelan)=ya</a:t>
            </a:r>
            <a:endParaRPr lang="en-US" sz="2000" b="1"/>
          </a:p>
        </p:txBody>
      </p:sp>
      <p:sp>
        <p:nvSpPr>
          <p:cNvPr id="5" name="TextBox 4"/>
          <p:cNvSpPr txBox="1"/>
          <p:nvPr/>
        </p:nvSpPr>
        <p:spPr>
          <a:xfrm>
            <a:off x="560696" y="3962400"/>
            <a:ext cx="8229600" cy="1231106"/>
          </a:xfrm>
          <a:prstGeom prst="rect">
            <a:avLst/>
          </a:prstGeom>
          <a:noFill/>
          <a:ln>
            <a:solidFill>
              <a:schemeClr val="accent1"/>
            </a:solidFill>
          </a:ln>
        </p:spPr>
        <p:txBody>
          <a:bodyPr wrap="square" rtlCol="0">
            <a:spAutoFit/>
          </a:bodyPr>
          <a:lstStyle/>
          <a:p>
            <a:r>
              <a:rPr lang="en-US" sz="2000" b="1" u="sng" smtClean="0"/>
              <a:t>H(cuaca=cerah, kec.angin=pelan)=ya</a:t>
            </a:r>
          </a:p>
          <a:p>
            <a:r>
              <a:rPr lang="en-US" smtClean="0"/>
              <a:t>Hipotesa ini menunjukkan bahwa keputusan untuk berolahraga bila cuaca=cerah, dan kec.angin=pelan, untuk singkatnya dituliskan hanya instance pada attribut dengan </a:t>
            </a:r>
            <a:r>
              <a:rPr lang="en-US" b="1" smtClean="0"/>
              <a:t>H(cerah,*,pelan)=ya</a:t>
            </a:r>
            <a:endParaRPr lang="en-US" b="1"/>
          </a:p>
        </p:txBody>
      </p:sp>
      <p:sp>
        <p:nvSpPr>
          <p:cNvPr id="6" name="TextBox 5"/>
          <p:cNvSpPr txBox="1"/>
          <p:nvPr/>
        </p:nvSpPr>
        <p:spPr>
          <a:xfrm>
            <a:off x="560696" y="5486400"/>
            <a:ext cx="8229600" cy="1261884"/>
          </a:xfrm>
          <a:prstGeom prst="rect">
            <a:avLst/>
          </a:prstGeom>
          <a:noFill/>
          <a:ln>
            <a:solidFill>
              <a:schemeClr val="accent1"/>
            </a:solidFill>
          </a:ln>
        </p:spPr>
        <p:txBody>
          <a:bodyPr wrap="square" rtlCol="0">
            <a:spAutoFit/>
          </a:bodyPr>
          <a:lstStyle/>
          <a:p>
            <a:r>
              <a:rPr lang="en-US" sz="2000" b="1" u="sng" smtClean="0"/>
              <a:t>H(cuaca=cerah)=ya</a:t>
            </a:r>
          </a:p>
          <a:p>
            <a:r>
              <a:rPr lang="en-US" smtClean="0"/>
              <a:t>Hipotesa ini menunjukkan bahwa keputusan untuk berolahraga bila cuaca=cerah, untuk singkatnya dituliskan hanya instance pada setaip attribut dengan </a:t>
            </a:r>
            <a:r>
              <a:rPr lang="en-US" sz="2000" b="1" smtClean="0"/>
              <a:t>H(cerah,*,*)=ya</a:t>
            </a:r>
            <a:endParaRPr lang="en-US" sz="2000" b="1"/>
          </a:p>
        </p:txBody>
      </p:sp>
    </p:spTree>
    <p:extLst>
      <p:ext uri="{BB962C8B-B14F-4D97-AF65-F5344CB8AC3E}">
        <p14:creationId xmlns:p14="http://schemas.microsoft.com/office/powerpoint/2010/main" val="383126273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Ide Mesin Pembelajaran</a:t>
            </a:r>
            <a:endParaRPr lang="en-US"/>
          </a:p>
        </p:txBody>
      </p:sp>
      <p:sp>
        <p:nvSpPr>
          <p:cNvPr id="3" name="Content Placeholder 2"/>
          <p:cNvSpPr>
            <a:spLocks noGrp="1"/>
          </p:cNvSpPr>
          <p:nvPr>
            <p:ph idx="1"/>
          </p:nvPr>
        </p:nvSpPr>
        <p:spPr>
          <a:xfrm>
            <a:off x="457200" y="1600200"/>
            <a:ext cx="8229600" cy="4800600"/>
          </a:xfrm>
        </p:spPr>
        <p:txBody>
          <a:bodyPr/>
          <a:lstStyle/>
          <a:p>
            <a:endParaRPr lang="en-US"/>
          </a:p>
        </p:txBody>
      </p:sp>
      <p:sp>
        <p:nvSpPr>
          <p:cNvPr id="4" name="6-Point Star 3"/>
          <p:cNvSpPr/>
          <p:nvPr/>
        </p:nvSpPr>
        <p:spPr>
          <a:xfrm>
            <a:off x="762000" y="1219200"/>
            <a:ext cx="6934200" cy="4953000"/>
          </a:xfrm>
          <a:prstGeom prst="star6">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a:t>Pada </a:t>
            </a:r>
            <a:r>
              <a:rPr lang="en-US" sz="2400" smtClean="0"/>
              <a:t>dasarnya </a:t>
            </a:r>
            <a:r>
              <a:rPr lang="en-US" sz="2400"/>
              <a:t>semua algoritma yang dikembangkan dalam mesin pembelajaran adalah algortima yang menghasilkan hipotesa dari suatu keputusan berdasarkan data pembelajaran yang diberikan</a:t>
            </a:r>
          </a:p>
        </p:txBody>
      </p:sp>
    </p:spTree>
    <p:extLst>
      <p:ext uri="{BB962C8B-B14F-4D97-AF65-F5344CB8AC3E}">
        <p14:creationId xmlns:p14="http://schemas.microsoft.com/office/powerpoint/2010/main" val="184577690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68362"/>
          </a:xfrm>
        </p:spPr>
        <p:txBody>
          <a:bodyPr/>
          <a:lstStyle/>
          <a:p>
            <a:r>
              <a:rPr lang="en-US" smtClean="0"/>
              <a:t>Find S</a:t>
            </a:r>
            <a:endParaRPr lang="en-US"/>
          </a:p>
        </p:txBody>
      </p:sp>
      <p:sp>
        <p:nvSpPr>
          <p:cNvPr id="3" name="Content Placeholder 2"/>
          <p:cNvSpPr>
            <a:spLocks noGrp="1"/>
          </p:cNvSpPr>
          <p:nvPr>
            <p:ph idx="1"/>
          </p:nvPr>
        </p:nvSpPr>
        <p:spPr>
          <a:xfrm>
            <a:off x="457200" y="1219200"/>
            <a:ext cx="8229600" cy="4906963"/>
          </a:xfrm>
        </p:spPr>
        <p:txBody>
          <a:bodyPr>
            <a:normAutofit lnSpcReduction="10000"/>
          </a:bodyPr>
          <a:lstStyle/>
          <a:p>
            <a:r>
              <a:rPr lang="en-US" dirty="0"/>
              <a:t>Find-S </a:t>
            </a:r>
            <a:r>
              <a:rPr lang="en-US" dirty="0" err="1"/>
              <a:t>adalah</a:t>
            </a:r>
            <a:r>
              <a:rPr lang="en-US" dirty="0"/>
              <a:t> </a:t>
            </a:r>
            <a:r>
              <a:rPr lang="en-US" dirty="0" err="1"/>
              <a:t>suatu</a:t>
            </a:r>
            <a:r>
              <a:rPr lang="en-US" dirty="0"/>
              <a:t> </a:t>
            </a:r>
            <a:r>
              <a:rPr lang="en-US" dirty="0" err="1"/>
              <a:t>metode</a:t>
            </a:r>
            <a:r>
              <a:rPr lang="en-US" dirty="0"/>
              <a:t> paling </a:t>
            </a:r>
            <a:r>
              <a:rPr lang="en-US" dirty="0" err="1"/>
              <a:t>sederhana</a:t>
            </a:r>
            <a:r>
              <a:rPr lang="en-US" dirty="0"/>
              <a:t> yang </a:t>
            </a:r>
            <a:r>
              <a:rPr lang="en-US" dirty="0" err="1"/>
              <a:t>dapat</a:t>
            </a:r>
            <a:r>
              <a:rPr lang="en-US" dirty="0"/>
              <a:t> </a:t>
            </a:r>
            <a:r>
              <a:rPr lang="en-US" dirty="0" err="1"/>
              <a:t>digunakan</a:t>
            </a:r>
            <a:r>
              <a:rPr lang="en-US"/>
              <a:t> </a:t>
            </a:r>
            <a:r>
              <a:rPr lang="en-US" smtClean="0"/>
              <a:t>mendapatkan</a:t>
            </a:r>
            <a:r>
              <a:rPr lang="en-US" dirty="0" smtClean="0"/>
              <a:t> </a:t>
            </a:r>
            <a:r>
              <a:rPr lang="en-US" dirty="0" err="1"/>
              <a:t>suatu</a:t>
            </a:r>
            <a:r>
              <a:rPr lang="en-US" dirty="0"/>
              <a:t> </a:t>
            </a:r>
            <a:r>
              <a:rPr lang="en-US" dirty="0" err="1"/>
              <a:t>hipotesa</a:t>
            </a:r>
            <a:r>
              <a:rPr lang="en-US" dirty="0"/>
              <a:t> </a:t>
            </a:r>
            <a:r>
              <a:rPr lang="en-US" dirty="0" err="1"/>
              <a:t>berdasarkan</a:t>
            </a:r>
            <a:r>
              <a:rPr lang="en-US" dirty="0"/>
              <a:t> data</a:t>
            </a:r>
            <a:r>
              <a:rPr lang="en-US" dirty="0" smtClean="0"/>
              <a:t>.</a:t>
            </a:r>
          </a:p>
          <a:p>
            <a:r>
              <a:rPr lang="en-US" dirty="0"/>
              <a:t>Find-S </a:t>
            </a:r>
            <a:r>
              <a:rPr lang="en-US" dirty="0" err="1"/>
              <a:t>mencari</a:t>
            </a:r>
            <a:r>
              <a:rPr lang="en-US" dirty="0"/>
              <a:t> </a:t>
            </a:r>
            <a:r>
              <a:rPr lang="en-US" dirty="0" err="1"/>
              <a:t>kesamaan</a:t>
            </a:r>
            <a:r>
              <a:rPr lang="en-US" dirty="0"/>
              <a:t> </a:t>
            </a:r>
            <a:r>
              <a:rPr lang="en-US" dirty="0" err="1"/>
              <a:t>nilai</a:t>
            </a:r>
            <a:r>
              <a:rPr lang="en-US" dirty="0"/>
              <a:t> </a:t>
            </a:r>
            <a:r>
              <a:rPr lang="en-US" dirty="0" err="1"/>
              <a:t>attribut</a:t>
            </a:r>
            <a:r>
              <a:rPr lang="en-US" dirty="0"/>
              <a:t> </a:t>
            </a:r>
            <a:r>
              <a:rPr lang="en-US" dirty="0" err="1"/>
              <a:t>untuk</a:t>
            </a:r>
            <a:r>
              <a:rPr lang="en-US" dirty="0"/>
              <a:t> </a:t>
            </a:r>
            <a:r>
              <a:rPr lang="en-US" dirty="0" err="1"/>
              <a:t>memperoleh</a:t>
            </a:r>
            <a:r>
              <a:rPr lang="en-US" dirty="0"/>
              <a:t> </a:t>
            </a:r>
            <a:r>
              <a:rPr lang="en-US" dirty="0" err="1"/>
              <a:t>suatu</a:t>
            </a:r>
            <a:r>
              <a:rPr lang="en-US" dirty="0"/>
              <a:t> </a:t>
            </a:r>
            <a:r>
              <a:rPr lang="en-US" dirty="0" err="1"/>
              <a:t>hipotesa</a:t>
            </a:r>
            <a:r>
              <a:rPr lang="en-US" dirty="0" smtClean="0"/>
              <a:t>.</a:t>
            </a:r>
          </a:p>
          <a:p>
            <a:r>
              <a:rPr lang="en-US" dirty="0" err="1" smtClean="0"/>
              <a:t>Kelemahan</a:t>
            </a:r>
            <a:r>
              <a:rPr lang="en-US" dirty="0" smtClean="0"/>
              <a:t> </a:t>
            </a:r>
            <a:r>
              <a:rPr lang="en-US" dirty="0" err="1"/>
              <a:t>dari</a:t>
            </a:r>
            <a:r>
              <a:rPr lang="en-US" dirty="0"/>
              <a:t> Find-S </a:t>
            </a:r>
            <a:r>
              <a:rPr lang="en-US" dirty="0" err="1"/>
              <a:t>adalah</a:t>
            </a:r>
            <a:r>
              <a:rPr lang="en-US" dirty="0"/>
              <a:t> data yang </a:t>
            </a:r>
            <a:r>
              <a:rPr lang="en-US" dirty="0" err="1"/>
              <a:t>digunakan</a:t>
            </a:r>
            <a:r>
              <a:rPr lang="en-US" dirty="0"/>
              <a:t> </a:t>
            </a:r>
            <a:r>
              <a:rPr lang="en-US" dirty="0" err="1"/>
              <a:t>harus</a:t>
            </a:r>
            <a:r>
              <a:rPr lang="en-US" dirty="0"/>
              <a:t> </a:t>
            </a:r>
            <a:r>
              <a:rPr lang="en-US" dirty="0" err="1"/>
              <a:t>bersifat</a:t>
            </a:r>
            <a:r>
              <a:rPr lang="en-US" dirty="0"/>
              <a:t> </a:t>
            </a:r>
            <a:r>
              <a:rPr lang="en-US" dirty="0" err="1"/>
              <a:t>konsisten</a:t>
            </a:r>
            <a:r>
              <a:rPr lang="en-US" dirty="0"/>
              <a:t> </a:t>
            </a:r>
            <a:r>
              <a:rPr lang="en-US" dirty="0" err="1"/>
              <a:t>dan</a:t>
            </a:r>
            <a:r>
              <a:rPr lang="en-US" dirty="0"/>
              <a:t> </a:t>
            </a:r>
            <a:r>
              <a:rPr lang="en-US" dirty="0" err="1"/>
              <a:t>tidak</a:t>
            </a:r>
            <a:r>
              <a:rPr lang="en-US" dirty="0"/>
              <a:t> bias??? (</a:t>
            </a:r>
            <a:r>
              <a:rPr lang="en-US" dirty="0" err="1"/>
              <a:t>terlalu</a:t>
            </a:r>
            <a:r>
              <a:rPr lang="en-US" dirty="0"/>
              <a:t> </a:t>
            </a:r>
            <a:r>
              <a:rPr lang="en-US" dirty="0" err="1"/>
              <a:t>sulit</a:t>
            </a:r>
            <a:r>
              <a:rPr lang="en-US" dirty="0"/>
              <a:t> </a:t>
            </a:r>
            <a:r>
              <a:rPr lang="en-US" dirty="0" err="1"/>
              <a:t>uantuk</a:t>
            </a:r>
            <a:r>
              <a:rPr lang="en-US" dirty="0"/>
              <a:t> </a:t>
            </a:r>
            <a:r>
              <a:rPr lang="en-US" dirty="0" err="1"/>
              <a:t>dapat</a:t>
            </a:r>
            <a:r>
              <a:rPr lang="en-US" dirty="0"/>
              <a:t> </a:t>
            </a:r>
            <a:r>
              <a:rPr lang="en-US" dirty="0" err="1"/>
              <a:t>memperoleh</a:t>
            </a:r>
            <a:r>
              <a:rPr lang="en-US" dirty="0"/>
              <a:t> data </a:t>
            </a:r>
            <a:r>
              <a:rPr lang="en-US" dirty="0" err="1"/>
              <a:t>semacam</a:t>
            </a:r>
            <a:r>
              <a:rPr lang="en-US" dirty="0"/>
              <a:t> </a:t>
            </a:r>
            <a:r>
              <a:rPr lang="en-US" dirty="0" err="1"/>
              <a:t>ini</a:t>
            </a:r>
            <a:r>
              <a:rPr lang="en-US" dirty="0"/>
              <a:t> </a:t>
            </a:r>
            <a:r>
              <a:rPr lang="en-US" dirty="0" err="1"/>
              <a:t>pada</a:t>
            </a:r>
            <a:r>
              <a:rPr lang="en-US" dirty="0"/>
              <a:t> </a:t>
            </a:r>
            <a:r>
              <a:rPr lang="en-US" dirty="0" err="1"/>
              <a:t>persoalan</a:t>
            </a:r>
            <a:r>
              <a:rPr lang="en-US" dirty="0"/>
              <a:t> </a:t>
            </a:r>
            <a:r>
              <a:rPr lang="en-US" dirty="0" err="1"/>
              <a:t>nyata</a:t>
            </a:r>
            <a:r>
              <a:rPr lang="en-US" dirty="0"/>
              <a:t>)</a:t>
            </a:r>
          </a:p>
          <a:p>
            <a:endParaRPr lang="en-US" dirty="0"/>
          </a:p>
        </p:txBody>
      </p:sp>
    </p:spTree>
    <p:extLst>
      <p:ext uri="{BB962C8B-B14F-4D97-AF65-F5344CB8AC3E}">
        <p14:creationId xmlns:p14="http://schemas.microsoft.com/office/powerpoint/2010/main" val="3201090882"/>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normAutofit fontScale="90000"/>
          </a:bodyPr>
          <a:lstStyle/>
          <a:p>
            <a:pPr algn="l"/>
            <a:r>
              <a:rPr lang="en-US" smtClean="0"/>
              <a:t>[1] langkah Find S</a:t>
            </a:r>
            <a:endParaRPr lang="en-US"/>
          </a:p>
        </p:txBody>
      </p:sp>
      <p:pic>
        <p:nvPicPr>
          <p:cNvPr id="4099" name="Picture 3"/>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762000" y="1219200"/>
            <a:ext cx="6633023" cy="27129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TextBox 5"/>
          <p:cNvSpPr txBox="1"/>
          <p:nvPr/>
        </p:nvSpPr>
        <p:spPr>
          <a:xfrm>
            <a:off x="697173" y="4256501"/>
            <a:ext cx="7684827" cy="1938992"/>
          </a:xfrm>
          <a:prstGeom prst="rect">
            <a:avLst/>
          </a:prstGeom>
          <a:noFill/>
        </p:spPr>
        <p:txBody>
          <a:bodyPr wrap="square" rtlCol="0">
            <a:spAutoFit/>
          </a:bodyPr>
          <a:lstStyle/>
          <a:p>
            <a:r>
              <a:rPr lang="en-US" sz="2400" smtClean="0"/>
              <a:t>Untuk memperoleh hipotesa dengan Find-S dari data training di atas langkah pertama yang harus dilakukan adalah memecah data berdasarkan keputusannya, sehingga akan diperoleh 2 data : pertama untuk keputusan=ya dan kedua untuk keputusan= tidak</a:t>
            </a:r>
            <a:endParaRPr lang="en-US" sz="2400"/>
          </a:p>
        </p:txBody>
      </p:sp>
    </p:spTree>
    <p:extLst>
      <p:ext uri="{BB962C8B-B14F-4D97-AF65-F5344CB8AC3E}">
        <p14:creationId xmlns:p14="http://schemas.microsoft.com/office/powerpoint/2010/main" val="3735255178"/>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44562"/>
          </a:xfrm>
        </p:spPr>
        <p:txBody>
          <a:bodyPr/>
          <a:lstStyle/>
          <a:p>
            <a:pPr algn="l"/>
            <a:r>
              <a:rPr lang="en-US" smtClean="0"/>
              <a:t>[2] Langkah Find-S</a:t>
            </a:r>
            <a:endParaRPr lang="en-US"/>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900166807"/>
              </p:ext>
            </p:extLst>
          </p:nvPr>
        </p:nvGraphicFramePr>
        <p:xfrm>
          <a:off x="685800" y="1219200"/>
          <a:ext cx="8153400" cy="1112520"/>
        </p:xfrm>
        <a:graphic>
          <a:graphicData uri="http://schemas.openxmlformats.org/drawingml/2006/table">
            <a:tbl>
              <a:tblPr firstRow="1" bandRow="1">
                <a:tableStyleId>{5C22544A-7EE6-4342-B048-85BDC9FD1C3A}</a:tableStyleId>
              </a:tblPr>
              <a:tblGrid>
                <a:gridCol w="457200"/>
                <a:gridCol w="1600200"/>
                <a:gridCol w="1828800"/>
                <a:gridCol w="2621280"/>
                <a:gridCol w="1645920"/>
              </a:tblGrid>
              <a:tr h="370840">
                <a:tc>
                  <a:txBody>
                    <a:bodyPr/>
                    <a:lstStyle/>
                    <a:p>
                      <a:r>
                        <a:rPr lang="en-US" smtClean="0"/>
                        <a:t>#</a:t>
                      </a:r>
                      <a:endParaRPr lang="en-US"/>
                    </a:p>
                  </a:txBody>
                  <a:tcPr/>
                </a:tc>
                <a:tc>
                  <a:txBody>
                    <a:bodyPr/>
                    <a:lstStyle/>
                    <a:p>
                      <a:r>
                        <a:rPr lang="en-US" smtClean="0"/>
                        <a:t>Cuaca</a:t>
                      </a:r>
                      <a:endParaRPr lang="en-US"/>
                    </a:p>
                  </a:txBody>
                  <a:tcPr/>
                </a:tc>
                <a:tc>
                  <a:txBody>
                    <a:bodyPr/>
                    <a:lstStyle/>
                    <a:p>
                      <a:r>
                        <a:rPr lang="en-US" smtClean="0"/>
                        <a:t>Temperatur</a:t>
                      </a:r>
                      <a:endParaRPr lang="en-US"/>
                    </a:p>
                  </a:txBody>
                  <a:tcPr/>
                </a:tc>
                <a:tc>
                  <a:txBody>
                    <a:bodyPr/>
                    <a:lstStyle/>
                    <a:p>
                      <a:r>
                        <a:rPr lang="en-US" smtClean="0"/>
                        <a:t>Kecepatan Angin</a:t>
                      </a:r>
                      <a:endParaRPr lang="en-US"/>
                    </a:p>
                  </a:txBody>
                  <a:tcPr/>
                </a:tc>
                <a:tc>
                  <a:txBody>
                    <a:bodyPr/>
                    <a:lstStyle/>
                    <a:p>
                      <a:r>
                        <a:rPr lang="en-US" smtClean="0"/>
                        <a:t>Berolah Raga</a:t>
                      </a:r>
                      <a:endParaRPr lang="en-US"/>
                    </a:p>
                  </a:txBody>
                  <a:tcPr/>
                </a:tc>
              </a:tr>
              <a:tr h="370840">
                <a:tc>
                  <a:txBody>
                    <a:bodyPr/>
                    <a:lstStyle/>
                    <a:p>
                      <a:r>
                        <a:rPr lang="en-US" smtClean="0"/>
                        <a:t>3</a:t>
                      </a:r>
                      <a:endParaRPr lang="en-US"/>
                    </a:p>
                  </a:txBody>
                  <a:tcPr/>
                </a:tc>
                <a:tc>
                  <a:txBody>
                    <a:bodyPr/>
                    <a:lstStyle/>
                    <a:p>
                      <a:r>
                        <a:rPr lang="en-US" smtClean="0"/>
                        <a:t>Hujan</a:t>
                      </a:r>
                      <a:endParaRPr lang="en-US"/>
                    </a:p>
                  </a:txBody>
                  <a:tcPr/>
                </a:tc>
                <a:tc>
                  <a:txBody>
                    <a:bodyPr/>
                    <a:lstStyle/>
                    <a:p>
                      <a:r>
                        <a:rPr lang="en-US" smtClean="0"/>
                        <a:t>Tinggi</a:t>
                      </a:r>
                      <a:endParaRPr lang="en-US"/>
                    </a:p>
                  </a:txBody>
                  <a:tcPr/>
                </a:tc>
                <a:tc>
                  <a:txBody>
                    <a:bodyPr/>
                    <a:lstStyle/>
                    <a:p>
                      <a:r>
                        <a:rPr lang="en-US" smtClean="0"/>
                        <a:t>Pelan</a:t>
                      </a:r>
                      <a:endParaRPr lang="en-US"/>
                    </a:p>
                  </a:txBody>
                  <a:tcPr/>
                </a:tc>
                <a:tc>
                  <a:txBody>
                    <a:bodyPr/>
                    <a:lstStyle/>
                    <a:p>
                      <a:r>
                        <a:rPr lang="en-US" smtClean="0"/>
                        <a:t>Tidak</a:t>
                      </a:r>
                      <a:endParaRPr lang="en-US"/>
                    </a:p>
                  </a:txBody>
                  <a:tcPr/>
                </a:tc>
              </a:tr>
              <a:tr h="370840">
                <a:tc>
                  <a:txBody>
                    <a:bodyPr/>
                    <a:lstStyle/>
                    <a:p>
                      <a:r>
                        <a:rPr lang="en-US" smtClean="0"/>
                        <a:t>5</a:t>
                      </a:r>
                      <a:endParaRPr lang="en-US"/>
                    </a:p>
                  </a:txBody>
                  <a:tcPr/>
                </a:tc>
                <a:tc>
                  <a:txBody>
                    <a:bodyPr/>
                    <a:lstStyle/>
                    <a:p>
                      <a:r>
                        <a:rPr lang="en-US" smtClean="0"/>
                        <a:t>Hujan</a:t>
                      </a:r>
                      <a:endParaRPr lang="en-US"/>
                    </a:p>
                  </a:txBody>
                  <a:tcPr/>
                </a:tc>
                <a:tc>
                  <a:txBody>
                    <a:bodyPr/>
                    <a:lstStyle/>
                    <a:p>
                      <a:r>
                        <a:rPr lang="en-US" smtClean="0"/>
                        <a:t>Tinggi</a:t>
                      </a:r>
                      <a:endParaRPr lang="en-US"/>
                    </a:p>
                  </a:txBody>
                  <a:tcPr/>
                </a:tc>
                <a:tc>
                  <a:txBody>
                    <a:bodyPr/>
                    <a:lstStyle/>
                    <a:p>
                      <a:r>
                        <a:rPr lang="en-US" smtClean="0"/>
                        <a:t>Kencang</a:t>
                      </a:r>
                      <a:endParaRPr lang="en-US"/>
                    </a:p>
                  </a:txBody>
                  <a:tcPr/>
                </a:tc>
                <a:tc>
                  <a:txBody>
                    <a:bodyPr/>
                    <a:lstStyle/>
                    <a:p>
                      <a:r>
                        <a:rPr lang="en-US" smtClean="0"/>
                        <a:t>Tidak</a:t>
                      </a:r>
                      <a:endParaRPr lang="en-US"/>
                    </a:p>
                  </a:txBody>
                  <a:tcPr/>
                </a:tc>
              </a:tr>
            </a:tbl>
          </a:graphicData>
        </a:graphic>
      </p:graphicFrame>
      <p:graphicFrame>
        <p:nvGraphicFramePr>
          <p:cNvPr id="7" name="Content Placeholder 3"/>
          <p:cNvGraphicFramePr>
            <a:graphicFrameLocks/>
          </p:cNvGraphicFramePr>
          <p:nvPr>
            <p:extLst>
              <p:ext uri="{D42A27DB-BD31-4B8C-83A1-F6EECF244321}">
                <p14:modId xmlns:p14="http://schemas.microsoft.com/office/powerpoint/2010/main" val="350301649"/>
              </p:ext>
            </p:extLst>
          </p:nvPr>
        </p:nvGraphicFramePr>
        <p:xfrm>
          <a:off x="533400" y="2514600"/>
          <a:ext cx="8229600" cy="1849120"/>
        </p:xfrm>
        <a:graphic>
          <a:graphicData uri="http://schemas.openxmlformats.org/drawingml/2006/table">
            <a:tbl>
              <a:tblPr firstRow="1" bandRow="1">
                <a:tableStyleId>{5C22544A-7EE6-4342-B048-85BDC9FD1C3A}</a:tableStyleId>
              </a:tblPr>
              <a:tblGrid>
                <a:gridCol w="533400"/>
                <a:gridCol w="1600200"/>
                <a:gridCol w="1828800"/>
                <a:gridCol w="2621280"/>
                <a:gridCol w="1645920"/>
              </a:tblGrid>
              <a:tr h="137160">
                <a:tc>
                  <a:txBody>
                    <a:bodyPr/>
                    <a:lstStyle/>
                    <a:p>
                      <a:r>
                        <a:rPr lang="en-US" smtClean="0"/>
                        <a:t>#</a:t>
                      </a:r>
                      <a:endParaRPr lang="en-US"/>
                    </a:p>
                  </a:txBody>
                  <a:tcPr/>
                </a:tc>
                <a:tc>
                  <a:txBody>
                    <a:bodyPr/>
                    <a:lstStyle/>
                    <a:p>
                      <a:r>
                        <a:rPr lang="en-US" smtClean="0"/>
                        <a:t>Cuaca</a:t>
                      </a:r>
                      <a:endParaRPr lang="en-US"/>
                    </a:p>
                  </a:txBody>
                  <a:tcPr/>
                </a:tc>
                <a:tc>
                  <a:txBody>
                    <a:bodyPr/>
                    <a:lstStyle/>
                    <a:p>
                      <a:r>
                        <a:rPr lang="en-US" smtClean="0"/>
                        <a:t>Temperatur</a:t>
                      </a:r>
                      <a:endParaRPr lang="en-US"/>
                    </a:p>
                  </a:txBody>
                  <a:tcPr/>
                </a:tc>
                <a:tc>
                  <a:txBody>
                    <a:bodyPr/>
                    <a:lstStyle/>
                    <a:p>
                      <a:r>
                        <a:rPr lang="en-US" smtClean="0"/>
                        <a:t>Kecepatan Angin</a:t>
                      </a:r>
                      <a:endParaRPr lang="en-US"/>
                    </a:p>
                  </a:txBody>
                  <a:tcPr/>
                </a:tc>
                <a:tc>
                  <a:txBody>
                    <a:bodyPr/>
                    <a:lstStyle/>
                    <a:p>
                      <a:r>
                        <a:rPr lang="en-US" smtClean="0"/>
                        <a:t>Berolah Raga</a:t>
                      </a:r>
                      <a:endParaRPr lang="en-US"/>
                    </a:p>
                  </a:txBody>
                  <a:tcPr/>
                </a:tc>
              </a:tr>
              <a:tr h="370840">
                <a:tc>
                  <a:txBody>
                    <a:bodyPr/>
                    <a:lstStyle/>
                    <a:p>
                      <a:r>
                        <a:rPr lang="en-US" smtClean="0"/>
                        <a:t>1</a:t>
                      </a:r>
                      <a:endParaRPr lang="en-US"/>
                    </a:p>
                  </a:txBody>
                  <a:tcPr/>
                </a:tc>
                <a:tc>
                  <a:txBody>
                    <a:bodyPr/>
                    <a:lstStyle/>
                    <a:p>
                      <a:r>
                        <a:rPr lang="en-US" smtClean="0"/>
                        <a:t>Cerah</a:t>
                      </a:r>
                      <a:endParaRPr lang="en-US"/>
                    </a:p>
                  </a:txBody>
                  <a:tcPr/>
                </a:tc>
                <a:tc>
                  <a:txBody>
                    <a:bodyPr/>
                    <a:lstStyle/>
                    <a:p>
                      <a:r>
                        <a:rPr lang="en-US" smtClean="0"/>
                        <a:t>Normal</a:t>
                      </a:r>
                      <a:endParaRPr lang="en-US"/>
                    </a:p>
                  </a:txBody>
                  <a:tcPr/>
                </a:tc>
                <a:tc>
                  <a:txBody>
                    <a:bodyPr/>
                    <a:lstStyle/>
                    <a:p>
                      <a:r>
                        <a:rPr lang="en-US" smtClean="0"/>
                        <a:t>Pelan</a:t>
                      </a:r>
                      <a:endParaRPr lang="en-US"/>
                    </a:p>
                  </a:txBody>
                  <a:tcPr/>
                </a:tc>
                <a:tc>
                  <a:txBody>
                    <a:bodyPr/>
                    <a:lstStyle/>
                    <a:p>
                      <a:r>
                        <a:rPr lang="en-US" smtClean="0"/>
                        <a:t>Ya</a:t>
                      </a:r>
                      <a:endParaRPr lang="en-US"/>
                    </a:p>
                  </a:txBody>
                  <a:tcPr/>
                </a:tc>
              </a:tr>
              <a:tr h="370840">
                <a:tc>
                  <a:txBody>
                    <a:bodyPr/>
                    <a:lstStyle/>
                    <a:p>
                      <a:r>
                        <a:rPr lang="en-US" smtClean="0"/>
                        <a:t>2</a:t>
                      </a:r>
                      <a:endParaRPr lang="en-US"/>
                    </a:p>
                  </a:txBody>
                  <a:tcPr/>
                </a:tc>
                <a:tc>
                  <a:txBody>
                    <a:bodyPr/>
                    <a:lstStyle/>
                    <a:p>
                      <a:r>
                        <a:rPr lang="en-US" smtClean="0"/>
                        <a:t>Cerah</a:t>
                      </a:r>
                      <a:endParaRPr lang="en-US"/>
                    </a:p>
                  </a:txBody>
                  <a:tcPr/>
                </a:tc>
                <a:tc>
                  <a:txBody>
                    <a:bodyPr/>
                    <a:lstStyle/>
                    <a:p>
                      <a:r>
                        <a:rPr lang="en-US" smtClean="0"/>
                        <a:t>Normal</a:t>
                      </a:r>
                      <a:endParaRPr lang="en-US"/>
                    </a:p>
                  </a:txBody>
                  <a:tcPr/>
                </a:tc>
                <a:tc>
                  <a:txBody>
                    <a:bodyPr/>
                    <a:lstStyle/>
                    <a:p>
                      <a:r>
                        <a:rPr lang="en-US" smtClean="0"/>
                        <a:t>Pelan</a:t>
                      </a:r>
                      <a:endParaRPr lang="en-US"/>
                    </a:p>
                  </a:txBody>
                  <a:tcPr/>
                </a:tc>
                <a:tc>
                  <a:txBody>
                    <a:bodyPr/>
                    <a:lstStyle/>
                    <a:p>
                      <a:r>
                        <a:rPr lang="en-US" smtClean="0"/>
                        <a:t>Ya</a:t>
                      </a:r>
                      <a:endParaRPr lang="en-US"/>
                    </a:p>
                  </a:txBody>
                  <a:tcPr/>
                </a:tc>
              </a:tr>
              <a:tr h="370840">
                <a:tc>
                  <a:txBody>
                    <a:bodyPr/>
                    <a:lstStyle/>
                    <a:p>
                      <a:r>
                        <a:rPr lang="en-US" smtClean="0"/>
                        <a:t>4</a:t>
                      </a:r>
                      <a:endParaRPr lang="en-US"/>
                    </a:p>
                  </a:txBody>
                  <a:tcPr/>
                </a:tc>
                <a:tc>
                  <a:txBody>
                    <a:bodyPr/>
                    <a:lstStyle/>
                    <a:p>
                      <a:r>
                        <a:rPr lang="en-US" smtClean="0"/>
                        <a:t>Cerah</a:t>
                      </a:r>
                      <a:endParaRPr lang="en-US"/>
                    </a:p>
                  </a:txBody>
                  <a:tcPr/>
                </a:tc>
                <a:tc>
                  <a:txBody>
                    <a:bodyPr/>
                    <a:lstStyle/>
                    <a:p>
                      <a:r>
                        <a:rPr lang="en-US" smtClean="0"/>
                        <a:t>Normal</a:t>
                      </a:r>
                      <a:endParaRPr lang="en-US"/>
                    </a:p>
                  </a:txBody>
                  <a:tcPr/>
                </a:tc>
                <a:tc>
                  <a:txBody>
                    <a:bodyPr/>
                    <a:lstStyle/>
                    <a:p>
                      <a:r>
                        <a:rPr lang="en-US" smtClean="0"/>
                        <a:t>Kencang</a:t>
                      </a:r>
                      <a:endParaRPr lang="en-US"/>
                    </a:p>
                  </a:txBody>
                  <a:tcPr/>
                </a:tc>
                <a:tc>
                  <a:txBody>
                    <a:bodyPr/>
                    <a:lstStyle/>
                    <a:p>
                      <a:r>
                        <a:rPr lang="en-US" smtClean="0"/>
                        <a:t>Ya</a:t>
                      </a:r>
                      <a:endParaRPr lang="en-US"/>
                    </a:p>
                  </a:txBody>
                  <a:tcPr/>
                </a:tc>
              </a:tr>
              <a:tr h="370840">
                <a:tc>
                  <a:txBody>
                    <a:bodyPr/>
                    <a:lstStyle/>
                    <a:p>
                      <a:r>
                        <a:rPr lang="en-US" smtClean="0"/>
                        <a:t>6</a:t>
                      </a:r>
                      <a:endParaRPr lang="en-US"/>
                    </a:p>
                  </a:txBody>
                  <a:tcPr/>
                </a:tc>
                <a:tc>
                  <a:txBody>
                    <a:bodyPr/>
                    <a:lstStyle/>
                    <a:p>
                      <a:r>
                        <a:rPr lang="en-US" smtClean="0"/>
                        <a:t>Cerah</a:t>
                      </a:r>
                      <a:endParaRPr lang="en-US"/>
                    </a:p>
                  </a:txBody>
                  <a:tcPr/>
                </a:tc>
                <a:tc>
                  <a:txBody>
                    <a:bodyPr/>
                    <a:lstStyle/>
                    <a:p>
                      <a:r>
                        <a:rPr lang="en-US" smtClean="0"/>
                        <a:t>Normal</a:t>
                      </a:r>
                      <a:endParaRPr lang="en-US"/>
                    </a:p>
                  </a:txBody>
                  <a:tcPr/>
                </a:tc>
                <a:tc>
                  <a:txBody>
                    <a:bodyPr/>
                    <a:lstStyle/>
                    <a:p>
                      <a:r>
                        <a:rPr lang="en-US" smtClean="0"/>
                        <a:t>Pelan</a:t>
                      </a:r>
                      <a:endParaRPr lang="en-US"/>
                    </a:p>
                  </a:txBody>
                  <a:tcPr/>
                </a:tc>
                <a:tc>
                  <a:txBody>
                    <a:bodyPr/>
                    <a:lstStyle/>
                    <a:p>
                      <a:r>
                        <a:rPr lang="en-US" smtClean="0"/>
                        <a:t>Ya</a:t>
                      </a:r>
                      <a:endParaRPr lang="en-US"/>
                    </a:p>
                  </a:txBody>
                  <a:tcPr/>
                </a:tc>
              </a:tr>
            </a:tbl>
          </a:graphicData>
        </a:graphic>
      </p:graphicFrame>
      <p:sp>
        <p:nvSpPr>
          <p:cNvPr id="3" name="TextBox 2"/>
          <p:cNvSpPr txBox="1"/>
          <p:nvPr/>
        </p:nvSpPr>
        <p:spPr>
          <a:xfrm>
            <a:off x="527713" y="4724400"/>
            <a:ext cx="8001000" cy="1938992"/>
          </a:xfrm>
          <a:prstGeom prst="rect">
            <a:avLst/>
          </a:prstGeom>
          <a:noFill/>
        </p:spPr>
        <p:txBody>
          <a:bodyPr wrap="square" rtlCol="0">
            <a:spAutoFit/>
          </a:bodyPr>
          <a:lstStyle/>
          <a:p>
            <a:r>
              <a:rPr lang="en-US" sz="2000"/>
              <a:t>Dari hasil pemisahan tersebut, terlihat bahwa data training tersebut konsisten dan tidak bias. Langkah berikutnya adalah membuat hipotesa untuk masing-masing keputusan. Pembuatan hipotesa ini dilakukan dengan mengambil data pertama sebagai sebagai hipotesa awal yang dianggap sebagai hipotesa spesifik, dan diteruskan hingga data terakhir dengan memperhatikan kesamaan sampai didaptkan hipotesa umum.</a:t>
            </a:r>
          </a:p>
        </p:txBody>
      </p:sp>
    </p:spTree>
    <p:extLst>
      <p:ext uri="{BB962C8B-B14F-4D97-AF65-F5344CB8AC3E}">
        <p14:creationId xmlns:p14="http://schemas.microsoft.com/office/powerpoint/2010/main" val="4109029048"/>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63562"/>
          </a:xfrm>
        </p:spPr>
        <p:txBody>
          <a:bodyPr>
            <a:normAutofit fontScale="90000"/>
          </a:bodyPr>
          <a:lstStyle/>
          <a:p>
            <a:pPr algn="l"/>
            <a:r>
              <a:rPr lang="en-US" smtClean="0"/>
              <a:t>[3] Langkah Find-S </a:t>
            </a:r>
            <a:endParaRPr lang="en-US"/>
          </a:p>
        </p:txBody>
      </p:sp>
      <p:sp>
        <p:nvSpPr>
          <p:cNvPr id="3" name="Content Placeholder 2"/>
          <p:cNvSpPr>
            <a:spLocks noGrp="1"/>
          </p:cNvSpPr>
          <p:nvPr>
            <p:ph idx="1"/>
          </p:nvPr>
        </p:nvSpPr>
        <p:spPr>
          <a:xfrm>
            <a:off x="457200" y="838200"/>
            <a:ext cx="8229600" cy="5287963"/>
          </a:xfrm>
        </p:spPr>
        <p:txBody>
          <a:bodyPr/>
          <a:lstStyle/>
          <a:p>
            <a:r>
              <a:rPr lang="en-US" sz="2400"/>
              <a:t>Langkah ini digunakan untuk menentukan hipotesa dari keputusan = </a:t>
            </a:r>
            <a:r>
              <a:rPr lang="en-US" sz="2400" smtClean="0"/>
              <a:t>ya</a:t>
            </a:r>
          </a:p>
          <a:p>
            <a:pPr marL="0" indent="0">
              <a:buNone/>
            </a:pPr>
            <a:endParaRPr lang="en-US"/>
          </a:p>
        </p:txBody>
      </p:sp>
      <p:graphicFrame>
        <p:nvGraphicFramePr>
          <p:cNvPr id="4" name="Table 3"/>
          <p:cNvGraphicFramePr>
            <a:graphicFrameLocks noGrp="1"/>
          </p:cNvGraphicFramePr>
          <p:nvPr>
            <p:extLst>
              <p:ext uri="{D42A27DB-BD31-4B8C-83A1-F6EECF244321}">
                <p14:modId xmlns:p14="http://schemas.microsoft.com/office/powerpoint/2010/main" val="4278307268"/>
              </p:ext>
            </p:extLst>
          </p:nvPr>
        </p:nvGraphicFramePr>
        <p:xfrm>
          <a:off x="609600" y="3644900"/>
          <a:ext cx="7946232" cy="2834640"/>
        </p:xfrm>
        <a:graphic>
          <a:graphicData uri="http://schemas.openxmlformats.org/drawingml/2006/table">
            <a:tbl>
              <a:tblPr firstRow="1" bandRow="1">
                <a:tableStyleId>{0505E3EF-67EA-436B-97B2-0124C06EBD24}</a:tableStyleId>
              </a:tblPr>
              <a:tblGrid>
                <a:gridCol w="1148478"/>
                <a:gridCol w="6797754"/>
              </a:tblGrid>
              <a:tr h="370840">
                <a:tc>
                  <a:txBody>
                    <a:bodyPr/>
                    <a:lstStyle/>
                    <a:p>
                      <a:r>
                        <a:rPr lang="en-US" b="0" smtClean="0"/>
                        <a:t>1</a:t>
                      </a:r>
                      <a:endParaRPr lang="en-US" b="0"/>
                    </a:p>
                  </a:txBody>
                  <a:tcPr/>
                </a:tc>
                <a:tc>
                  <a:txBody>
                    <a:bodyPr/>
                    <a:lstStyle/>
                    <a:p>
                      <a:r>
                        <a:rPr lang="en-US" b="0" smtClean="0"/>
                        <a:t>Hipotesa awal disamakan dengan data pertama :</a:t>
                      </a:r>
                    </a:p>
                    <a:p>
                      <a:r>
                        <a:rPr lang="en-US" b="0" smtClean="0"/>
                        <a:t>H(Cerah,Normal,Pelan)=Ya</a:t>
                      </a:r>
                      <a:endParaRPr lang="en-US" b="0"/>
                    </a:p>
                  </a:txBody>
                  <a:tcPr/>
                </a:tc>
              </a:tr>
              <a:tr h="370840">
                <a:tc>
                  <a:txBody>
                    <a:bodyPr/>
                    <a:lstStyle/>
                    <a:p>
                      <a:r>
                        <a:rPr lang="en-US" smtClean="0"/>
                        <a:t>2</a:t>
                      </a:r>
                      <a:endParaRPr lang="en-US"/>
                    </a:p>
                  </a:txBody>
                  <a:tcPr/>
                </a:tc>
                <a:tc>
                  <a:txBody>
                    <a:bodyPr/>
                    <a:lstStyle/>
                    <a:p>
                      <a:r>
                        <a:rPr lang="en-US" smtClean="0"/>
                        <a:t>Data kedua, tidak ada perubahan karena</a:t>
                      </a:r>
                      <a:r>
                        <a:rPr lang="en-US" baseline="0" smtClean="0"/>
                        <a:t> semua nilai instancenya sama :</a:t>
                      </a:r>
                    </a:p>
                    <a:p>
                      <a:r>
                        <a:rPr lang="en-US" baseline="0" smtClean="0"/>
                        <a:t>H(Cerah,Normal,Pelan)=Ya</a:t>
                      </a:r>
                      <a:endParaRPr lang="en-US"/>
                    </a:p>
                  </a:txBody>
                  <a:tcPr/>
                </a:tc>
              </a:tr>
              <a:tr h="370840">
                <a:tc>
                  <a:txBody>
                    <a:bodyPr/>
                    <a:lstStyle/>
                    <a:p>
                      <a:r>
                        <a:rPr lang="en-US" smtClean="0"/>
                        <a:t>3</a:t>
                      </a:r>
                      <a:endParaRPr lang="en-US"/>
                    </a:p>
                  </a:txBody>
                  <a:tcPr/>
                </a:tc>
                <a:tc>
                  <a:txBody>
                    <a:bodyPr/>
                    <a:lstStyle/>
                    <a:p>
                      <a:r>
                        <a:rPr lang="en-US" smtClean="0"/>
                        <a:t>Data ketiga, ada perubahan di attribut kec.angin,</a:t>
                      </a:r>
                      <a:r>
                        <a:rPr lang="en-US" baseline="0" smtClean="0"/>
                        <a:t> sehingga :</a:t>
                      </a:r>
                    </a:p>
                    <a:p>
                      <a:r>
                        <a:rPr lang="en-US" baseline="0" smtClean="0"/>
                        <a:t>H(Cerah,Normal,*)=Ya</a:t>
                      </a:r>
                      <a:endParaRPr lang="en-US"/>
                    </a:p>
                  </a:txBody>
                  <a:tcPr/>
                </a:tc>
              </a:tr>
              <a:tr h="370840">
                <a:tc>
                  <a:txBody>
                    <a:bodyPr/>
                    <a:lstStyle/>
                    <a:p>
                      <a:r>
                        <a:rPr lang="en-US" smtClean="0"/>
                        <a:t>4</a:t>
                      </a:r>
                      <a:endParaRPr lang="en-US"/>
                    </a:p>
                  </a:txBody>
                  <a:tcPr/>
                </a:tc>
                <a:tc>
                  <a:txBody>
                    <a:bodyPr/>
                    <a:lstStyle/>
                    <a:p>
                      <a:r>
                        <a:rPr lang="en-US" smtClean="0"/>
                        <a:t>Data keempat, ada perubahan di attribut kec.angin</a:t>
                      </a:r>
                      <a:r>
                        <a:rPr lang="en-US" baseline="0" smtClean="0"/>
                        <a:t>, sehingga :</a:t>
                      </a:r>
                    </a:p>
                    <a:p>
                      <a:r>
                        <a:rPr lang="en-US" baseline="0" smtClean="0"/>
                        <a:t>H(Cerah,Normal,*)=Ya</a:t>
                      </a:r>
                      <a:endParaRPr lang="en-US"/>
                    </a:p>
                  </a:txBody>
                  <a:tcPr/>
                </a:tc>
              </a:tr>
            </a:tbl>
          </a:graphicData>
        </a:graphic>
      </p:graphicFrame>
      <p:pic>
        <p:nvPicPr>
          <p:cNvPr id="5"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 y="1600200"/>
            <a:ext cx="8235950" cy="1968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48099223"/>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smtClean="0"/>
              <a:t>[4] Langkah Find-S</a:t>
            </a:r>
            <a:endParaRPr lang="en-US"/>
          </a:p>
        </p:txBody>
      </p:sp>
      <p:pic>
        <p:nvPicPr>
          <p:cNvPr id="614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81000" y="1905000"/>
            <a:ext cx="8157155" cy="12375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TextBox 3"/>
          <p:cNvSpPr txBox="1"/>
          <p:nvPr/>
        </p:nvSpPr>
        <p:spPr>
          <a:xfrm>
            <a:off x="533400" y="1186934"/>
            <a:ext cx="7315200" cy="707886"/>
          </a:xfrm>
          <a:prstGeom prst="rect">
            <a:avLst/>
          </a:prstGeom>
          <a:noFill/>
        </p:spPr>
        <p:txBody>
          <a:bodyPr wrap="square" rtlCol="0">
            <a:spAutoFit/>
          </a:bodyPr>
          <a:lstStyle/>
          <a:p>
            <a:r>
              <a:rPr lang="en-US" sz="2000"/>
              <a:t>Langkah ini digunakan untuk menentukan hipotesa dari </a:t>
            </a:r>
            <a:r>
              <a:rPr lang="en-US" sz="2000" b="1"/>
              <a:t>keputusan = tidak</a:t>
            </a:r>
          </a:p>
        </p:txBody>
      </p:sp>
      <p:graphicFrame>
        <p:nvGraphicFramePr>
          <p:cNvPr id="5" name="Table 4"/>
          <p:cNvGraphicFramePr>
            <a:graphicFrameLocks noGrp="1"/>
          </p:cNvGraphicFramePr>
          <p:nvPr>
            <p:extLst>
              <p:ext uri="{D42A27DB-BD31-4B8C-83A1-F6EECF244321}">
                <p14:modId xmlns:p14="http://schemas.microsoft.com/office/powerpoint/2010/main" val="2846290132"/>
              </p:ext>
            </p:extLst>
          </p:nvPr>
        </p:nvGraphicFramePr>
        <p:xfrm>
          <a:off x="654843" y="3352800"/>
          <a:ext cx="7072313" cy="1280160"/>
        </p:xfrm>
        <a:graphic>
          <a:graphicData uri="http://schemas.openxmlformats.org/drawingml/2006/table">
            <a:tbl>
              <a:tblPr firstRow="1" bandRow="1">
                <a:tableStyleId>{BC89EF96-8CEA-46FF-86C4-4CE0E7609802}</a:tableStyleId>
              </a:tblPr>
              <a:tblGrid>
                <a:gridCol w="900113"/>
                <a:gridCol w="6172200"/>
              </a:tblGrid>
              <a:tr h="0">
                <a:tc>
                  <a:txBody>
                    <a:bodyPr/>
                    <a:lstStyle/>
                    <a:p>
                      <a:r>
                        <a:rPr lang="en-US" smtClean="0"/>
                        <a:t>1</a:t>
                      </a:r>
                      <a:endParaRPr lang="en-US"/>
                    </a:p>
                  </a:txBody>
                  <a:tcPr/>
                </a:tc>
                <a:tc>
                  <a:txBody>
                    <a:bodyPr/>
                    <a:lstStyle/>
                    <a:p>
                      <a:r>
                        <a:rPr lang="en-US" smtClean="0"/>
                        <a:t>Hipotesa awal disamakan dengan data pertama (D3) :</a:t>
                      </a:r>
                    </a:p>
                    <a:p>
                      <a:pPr algn="ctr"/>
                      <a:r>
                        <a:rPr lang="en-US" smtClean="0"/>
                        <a:t>H(Hujan, Tinggi, Pelan)=Tidak</a:t>
                      </a:r>
                      <a:endParaRPr lang="en-US"/>
                    </a:p>
                  </a:txBody>
                  <a:tcPr/>
                </a:tc>
              </a:tr>
              <a:tr h="370840">
                <a:tc>
                  <a:txBody>
                    <a:bodyPr/>
                    <a:lstStyle/>
                    <a:p>
                      <a:r>
                        <a:rPr lang="en-US" smtClean="0"/>
                        <a:t>2</a:t>
                      </a:r>
                      <a:endParaRPr lang="en-US"/>
                    </a:p>
                  </a:txBody>
                  <a:tcPr/>
                </a:tc>
                <a:tc>
                  <a:txBody>
                    <a:bodyPr/>
                    <a:lstStyle/>
                    <a:p>
                      <a:r>
                        <a:rPr lang="en-US" smtClean="0"/>
                        <a:t>Data kelima,</a:t>
                      </a:r>
                      <a:r>
                        <a:rPr lang="en-US" baseline="0" smtClean="0"/>
                        <a:t> ada perubahan di kec.angin</a:t>
                      </a:r>
                    </a:p>
                    <a:p>
                      <a:pPr algn="ctr"/>
                      <a:r>
                        <a:rPr lang="en-US" smtClean="0"/>
                        <a:t>H(Hujan, tinggi, *)</a:t>
                      </a:r>
                      <a:r>
                        <a:rPr lang="en-US" baseline="0" smtClean="0"/>
                        <a:t> = Tidak</a:t>
                      </a:r>
                      <a:endParaRPr lang="en-US"/>
                    </a:p>
                  </a:txBody>
                  <a:tcPr/>
                </a:tc>
              </a:tr>
            </a:tbl>
          </a:graphicData>
        </a:graphic>
      </p:graphicFrame>
    </p:spTree>
    <p:extLst>
      <p:ext uri="{BB962C8B-B14F-4D97-AF65-F5344CB8AC3E}">
        <p14:creationId xmlns:p14="http://schemas.microsoft.com/office/powerpoint/2010/main" val="590082906"/>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Hasil Find S</a:t>
            </a:r>
            <a:endParaRPr lang="en-US"/>
          </a:p>
        </p:txBody>
      </p:sp>
      <p:sp>
        <p:nvSpPr>
          <p:cNvPr id="3" name="Content Placeholder 2"/>
          <p:cNvSpPr>
            <a:spLocks noGrp="1"/>
          </p:cNvSpPr>
          <p:nvPr>
            <p:ph idx="1"/>
          </p:nvPr>
        </p:nvSpPr>
        <p:spPr/>
        <p:txBody>
          <a:bodyPr/>
          <a:lstStyle/>
          <a:p>
            <a:endParaRPr lang="en-US" smtClean="0"/>
          </a:p>
          <a:p>
            <a:endParaRPr lang="en-US"/>
          </a:p>
          <a:p>
            <a:endParaRPr lang="en-US" smtClean="0"/>
          </a:p>
          <a:p>
            <a:endParaRPr lang="en-US"/>
          </a:p>
          <a:p>
            <a:r>
              <a:rPr lang="en-US" smtClean="0"/>
              <a:t>Hasil Find-S</a:t>
            </a:r>
          </a:p>
          <a:p>
            <a:pPr marL="0" indent="0">
              <a:buNone/>
            </a:pPr>
            <a:r>
              <a:rPr lang="en-US"/>
              <a:t>	</a:t>
            </a:r>
            <a:r>
              <a:rPr lang="en-US" smtClean="0"/>
              <a:t>H(Cerah, Normal, *) = Ya</a:t>
            </a:r>
          </a:p>
          <a:p>
            <a:pPr marL="0" indent="0">
              <a:buNone/>
            </a:pPr>
            <a:r>
              <a:rPr lang="en-US"/>
              <a:t> </a:t>
            </a:r>
            <a:r>
              <a:rPr lang="en-US" smtClean="0"/>
              <a:t>         H(Hujan, Tinggi, *) = Tidak</a:t>
            </a:r>
            <a:endParaRPr lang="en-US"/>
          </a:p>
        </p:txBody>
      </p:sp>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 y="1371600"/>
            <a:ext cx="6632575" cy="27130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814116704"/>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Contoh Keputusan dari Hipotesa</a:t>
            </a:r>
            <a:endParaRPr lang="en-US"/>
          </a:p>
        </p:txBody>
      </p:sp>
      <p:graphicFrame>
        <p:nvGraphicFramePr>
          <p:cNvPr id="6" name="Content Placeholder 5"/>
          <p:cNvGraphicFramePr>
            <a:graphicFrameLocks noGrp="1"/>
          </p:cNvGraphicFramePr>
          <p:nvPr>
            <p:ph idx="1"/>
            <p:extLst>
              <p:ext uri="{D42A27DB-BD31-4B8C-83A1-F6EECF244321}">
                <p14:modId xmlns:p14="http://schemas.microsoft.com/office/powerpoint/2010/main" val="367006041"/>
              </p:ext>
            </p:extLst>
          </p:nvPr>
        </p:nvGraphicFramePr>
        <p:xfrm>
          <a:off x="3505200" y="1877212"/>
          <a:ext cx="3886200" cy="858520"/>
        </p:xfrm>
        <a:graphic>
          <a:graphicData uri="http://schemas.openxmlformats.org/drawingml/2006/table">
            <a:tbl>
              <a:tblPr firstRow="1" bandRow="1">
                <a:tableStyleId>{5C22544A-7EE6-4342-B048-85BDC9FD1C3A}</a:tableStyleId>
              </a:tblPr>
              <a:tblGrid>
                <a:gridCol w="3886200"/>
              </a:tblGrid>
              <a:tr h="48768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mtClean="0"/>
                        <a:t>H(Cerah, Normal, *) = Ya</a:t>
                      </a:r>
                      <a:endParaRPr lang="en-US"/>
                    </a:p>
                  </a:txBody>
                  <a:tcPr/>
                </a:tc>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mtClean="0"/>
                        <a:t>H(Hujan, Tinggi, *) = Tidak</a:t>
                      </a:r>
                      <a:endParaRPr lang="en-US"/>
                    </a:p>
                  </a:txBody>
                  <a:tcPr/>
                </a:tc>
              </a:tr>
            </a:tbl>
          </a:graphicData>
        </a:graphic>
      </p:graphicFrame>
      <p:sp>
        <p:nvSpPr>
          <p:cNvPr id="4" name="Oval Callout 3"/>
          <p:cNvSpPr/>
          <p:nvPr/>
        </p:nvSpPr>
        <p:spPr>
          <a:xfrm>
            <a:off x="381000" y="3048000"/>
            <a:ext cx="1905000" cy="1828800"/>
          </a:xfrm>
          <a:prstGeom prst="wedgeEllipseCallo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mtClean="0"/>
              <a:t>Bila Cuaca Cerah , apakah akan berolah raga</a:t>
            </a:r>
            <a:endParaRPr lang="en-US"/>
          </a:p>
        </p:txBody>
      </p:sp>
      <p:sp>
        <p:nvSpPr>
          <p:cNvPr id="7" name="TextBox 6"/>
          <p:cNvSpPr txBox="1"/>
          <p:nvPr/>
        </p:nvSpPr>
        <p:spPr>
          <a:xfrm>
            <a:off x="4267200" y="1512332"/>
            <a:ext cx="1866900" cy="369332"/>
          </a:xfrm>
          <a:prstGeom prst="rect">
            <a:avLst/>
          </a:prstGeom>
          <a:noFill/>
        </p:spPr>
        <p:txBody>
          <a:bodyPr wrap="square" rtlCol="0">
            <a:spAutoFit/>
          </a:bodyPr>
          <a:lstStyle/>
          <a:p>
            <a:r>
              <a:rPr lang="en-US" smtClean="0"/>
              <a:t>HIPOTESA</a:t>
            </a:r>
            <a:endParaRPr lang="en-US"/>
          </a:p>
        </p:txBody>
      </p:sp>
      <p:sp>
        <p:nvSpPr>
          <p:cNvPr id="8" name="Right Arrow 7"/>
          <p:cNvSpPr/>
          <p:nvPr/>
        </p:nvSpPr>
        <p:spPr>
          <a:xfrm>
            <a:off x="2514600" y="3695700"/>
            <a:ext cx="1143000" cy="5334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p:cNvSpPr/>
          <p:nvPr/>
        </p:nvSpPr>
        <p:spPr>
          <a:xfrm>
            <a:off x="3886200" y="3676366"/>
            <a:ext cx="1714500" cy="11811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smtClean="0"/>
              <a:t>CEK</a:t>
            </a:r>
            <a:endParaRPr lang="en-US" b="1"/>
          </a:p>
        </p:txBody>
      </p:sp>
      <p:sp>
        <p:nvSpPr>
          <p:cNvPr id="10" name="Down Arrow 9"/>
          <p:cNvSpPr/>
          <p:nvPr/>
        </p:nvSpPr>
        <p:spPr>
          <a:xfrm>
            <a:off x="4545131" y="2895600"/>
            <a:ext cx="628650" cy="651681"/>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Down Arrow 10"/>
          <p:cNvSpPr/>
          <p:nvPr/>
        </p:nvSpPr>
        <p:spPr>
          <a:xfrm>
            <a:off x="4545131" y="5029200"/>
            <a:ext cx="655519" cy="76200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p:cNvSpPr txBox="1"/>
          <p:nvPr/>
        </p:nvSpPr>
        <p:spPr>
          <a:xfrm>
            <a:off x="3657600" y="6019799"/>
            <a:ext cx="2895600" cy="584775"/>
          </a:xfrm>
          <a:prstGeom prst="rect">
            <a:avLst/>
          </a:prstGeom>
          <a:noFill/>
        </p:spPr>
        <p:txBody>
          <a:bodyPr wrap="square" rtlCol="0">
            <a:spAutoFit/>
          </a:bodyPr>
          <a:lstStyle/>
          <a:p>
            <a:r>
              <a:rPr lang="en-US" sz="3200" b="1" smtClean="0"/>
              <a:t>JAWAB :  YA </a:t>
            </a:r>
            <a:endParaRPr lang="en-US" sz="3200" b="1"/>
          </a:p>
        </p:txBody>
      </p:sp>
      <mc:AlternateContent xmlns:mc="http://schemas.openxmlformats.org/markup-compatibility/2006" xmlns:p14="http://schemas.microsoft.com/office/powerpoint/2010/main">
        <mc:Choice Requires="p14">
          <p:contentPart p14:bwMode="auto" r:id="rId2">
            <p14:nvContentPartPr>
              <p14:cNvPr id="3" name="Ink 2"/>
              <p14:cNvContentPartPr/>
              <p14:nvPr/>
            </p14:nvContentPartPr>
            <p14:xfrm>
              <a:off x="330480" y="2616480"/>
              <a:ext cx="2723760" cy="589680"/>
            </p14:xfrm>
          </p:contentPart>
        </mc:Choice>
        <mc:Fallback xmlns="">
          <p:pic>
            <p:nvPicPr>
              <p:cNvPr id="3" name="Ink 2"/>
              <p:cNvPicPr/>
              <p:nvPr/>
            </p:nvPicPr>
            <p:blipFill>
              <a:blip r:embed="rId3"/>
              <a:stretch>
                <a:fillRect/>
              </a:stretch>
            </p:blipFill>
            <p:spPr>
              <a:xfrm>
                <a:off x="321120" y="2607120"/>
                <a:ext cx="2742480" cy="608400"/>
              </a:xfrm>
              <a:prstGeom prst="rect">
                <a:avLst/>
              </a:prstGeom>
            </p:spPr>
          </p:pic>
        </mc:Fallback>
      </mc:AlternateContent>
    </p:spTree>
    <p:extLst>
      <p:ext uri="{BB962C8B-B14F-4D97-AF65-F5344CB8AC3E}">
        <p14:creationId xmlns:p14="http://schemas.microsoft.com/office/powerpoint/2010/main" val="2293415976"/>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TUGAS : INDIVIDU</a:t>
            </a:r>
            <a:endParaRPr lang="en-US"/>
          </a:p>
        </p:txBody>
      </p:sp>
      <p:sp>
        <p:nvSpPr>
          <p:cNvPr id="3" name="Content Placeholder 2"/>
          <p:cNvSpPr>
            <a:spLocks noGrp="1"/>
          </p:cNvSpPr>
          <p:nvPr>
            <p:ph idx="1"/>
          </p:nvPr>
        </p:nvSpPr>
        <p:spPr/>
        <p:txBody>
          <a:bodyPr/>
          <a:lstStyle/>
          <a:p>
            <a:r>
              <a:rPr lang="en-US" smtClean="0"/>
              <a:t>Aplikasikan Algoritma Find-S  untuk tema yang saudara pilih.</a:t>
            </a:r>
            <a:endParaRPr lang="en-US"/>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57400" y="3200400"/>
            <a:ext cx="4199467" cy="2362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723134198"/>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id-ID" dirty="0"/>
          </a:p>
        </p:txBody>
      </p:sp>
      <p:sp>
        <p:nvSpPr>
          <p:cNvPr id="3" name="Content Placeholder 2"/>
          <p:cNvSpPr>
            <a:spLocks noGrp="1"/>
          </p:cNvSpPr>
          <p:nvPr>
            <p:ph idx="1"/>
          </p:nvPr>
        </p:nvSpPr>
        <p:spPr/>
        <p:txBody>
          <a:bodyPr/>
          <a:lstStyle/>
          <a:p>
            <a:endParaRPr lang="id-ID"/>
          </a:p>
        </p:txBody>
      </p:sp>
    </p:spTree>
    <p:extLst>
      <p:ext uri="{BB962C8B-B14F-4D97-AF65-F5344CB8AC3E}">
        <p14:creationId xmlns:p14="http://schemas.microsoft.com/office/powerpoint/2010/main" val="2656360314"/>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sp>
        <p:nvSpPr>
          <p:cNvPr id="4" name="Rectangle 3"/>
          <p:cNvSpPr/>
          <p:nvPr/>
        </p:nvSpPr>
        <p:spPr>
          <a:xfrm>
            <a:off x="2386949" y="2967335"/>
            <a:ext cx="4370107" cy="923330"/>
          </a:xfrm>
          <a:prstGeom prst="rect">
            <a:avLst/>
          </a:prstGeom>
          <a:noFill/>
        </p:spPr>
        <p:txBody>
          <a:bodyPr wrap="none" lIns="91440" tIns="45720" rIns="91440" bIns="4572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r>
              <a:rPr lang="en-US" sz="5400" b="1" cap="none" spc="0" smtClean="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TERIMA KASIH</a:t>
            </a:r>
            <a:endParaRPr lang="en-US" sz="5400" b="1" cap="none" spc="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endParaRPr>
          </a:p>
        </p:txBody>
      </p:sp>
    </p:spTree>
    <p:extLst>
      <p:ext uri="{BB962C8B-B14F-4D97-AF65-F5344CB8AC3E}">
        <p14:creationId xmlns:p14="http://schemas.microsoft.com/office/powerpoint/2010/main" val="1369058302"/>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Slipstream</Template>
  <TotalTime>3388</TotalTime>
  <Words>816</Words>
  <Application>Microsoft Office PowerPoint</Application>
  <PresentationFormat>On-screen Show (4:3)</PresentationFormat>
  <Paragraphs>254</Paragraphs>
  <Slides>17</Slides>
  <Notes>0</Notes>
  <HiddenSlides>0</HiddenSlides>
  <MMClips>0</MMClips>
  <ScaleCrop>false</ScaleCrop>
  <HeadingPairs>
    <vt:vector size="4" baseType="variant">
      <vt:variant>
        <vt:lpstr>Theme</vt:lpstr>
      </vt:variant>
      <vt:variant>
        <vt:i4>1</vt:i4>
      </vt:variant>
      <vt:variant>
        <vt:lpstr>Slide Titles</vt:lpstr>
      </vt:variant>
      <vt:variant>
        <vt:i4>17</vt:i4>
      </vt:variant>
    </vt:vector>
  </HeadingPairs>
  <TitlesOfParts>
    <vt:vector size="18" baseType="lpstr">
      <vt:lpstr>Office Theme</vt:lpstr>
      <vt:lpstr>Pertemuan ke-2</vt:lpstr>
      <vt:lpstr>Ide Pembelajaran</vt:lpstr>
      <vt:lpstr>Data Training</vt:lpstr>
      <vt:lpstr>Data Konsisten</vt:lpstr>
      <vt:lpstr>Data BIAS</vt:lpstr>
      <vt:lpstr>HIPOTESA</vt:lpstr>
      <vt:lpstr>Ide Mesin Pembelajaran</vt:lpstr>
      <vt:lpstr>Find S</vt:lpstr>
      <vt:lpstr>[1] langkah Find S</vt:lpstr>
      <vt:lpstr>[2] Langkah Find-S</vt:lpstr>
      <vt:lpstr>[3] Langkah Find-S </vt:lpstr>
      <vt:lpstr>[4] Langkah Find-S</vt:lpstr>
      <vt:lpstr>Hasil Find S</vt:lpstr>
      <vt:lpstr>Contoh Keputusan dari Hipotesa</vt:lpstr>
      <vt:lpstr>TUGAS : INDIVIDU</vt:lpstr>
      <vt:lpstr>PowerPoint Presentation</vt:lpstr>
      <vt:lpstr>PowerPoint Presentation</vt:lpstr>
    </vt:vector>
  </TitlesOfParts>
  <Company>Office Black Edition - tum0r</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Pertemuan ke-2</dc:title>
  <dc:creator>esupriyati</dc:creator>
  <cp:lastModifiedBy>Endang Supriyati</cp:lastModifiedBy>
  <cp:revision>33</cp:revision>
  <dcterms:created xsi:type="dcterms:W3CDTF">2016-01-13T04:34:33Z</dcterms:created>
  <dcterms:modified xsi:type="dcterms:W3CDTF">2020-03-09T01:29:53Z</dcterms:modified>
</cp:coreProperties>
</file>